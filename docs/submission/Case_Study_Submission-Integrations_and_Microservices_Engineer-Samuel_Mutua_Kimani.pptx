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90ce0bbb8f4c84" /><Relationship Type="http://schemas.openxmlformats.org/officeDocument/2006/relationships/extended-properties" Target="/docProps/app.xml" Id="R0a4d0ec663294d78" /><Relationship Type="http://schemas.openxmlformats.org/officeDocument/2006/relationships/officeDocument" Target="/ppt/presentation.xml" Id="R2e30a35efa0145ed" /></Relationships>
</file>

<file path=ppt/presentation.xml><?xml version="1.0" encoding="utf-8"?>
<p:presentation xmlns:p="http://schemas.openxmlformats.org/presentationml/2006/main">
  <p:sldMasterIdLst>
    <p:sldMasterId xmlns:r="http://schemas.openxmlformats.org/officeDocument/2006/relationships" id="2147483648" r:id="R0105dfefabb8430b"/>
  </p:sldMasterIdLst>
  <p:notesMasterIdLst>
    <p:notesMasterId xmlns:r="http://schemas.openxmlformats.org/officeDocument/2006/relationships" r:id="R358d21f276e14e38"/>
  </p:notesMasterIdLst>
  <p:sldIdLst>
    <p:sldId xmlns:r="http://schemas.openxmlformats.org/officeDocument/2006/relationships" id="256" r:id="R90469dc9f6214331"/>
    <p:sldId xmlns:r="http://schemas.openxmlformats.org/officeDocument/2006/relationships" id="257" r:id="Ra16ae5da91134449"/>
    <p:sldId xmlns:r="http://schemas.openxmlformats.org/officeDocument/2006/relationships" id="258" r:id="R2bbe093a63e64270"/>
    <p:sldId xmlns:r="http://schemas.openxmlformats.org/officeDocument/2006/relationships" id="259" r:id="R79ed08e174ec4c4c"/>
    <p:sldId xmlns:r="http://schemas.openxmlformats.org/officeDocument/2006/relationships" id="260" r:id="Rb65eb1b62946427e"/>
    <p:sldId xmlns:r="http://schemas.openxmlformats.org/officeDocument/2006/relationships" id="261" r:id="Rc9341648c65c4bbe"/>
    <p:sldId xmlns:r="http://schemas.openxmlformats.org/officeDocument/2006/relationships" id="262" r:id="R7ad3e8e6e70544dd"/>
    <p:sldId xmlns:r="http://schemas.openxmlformats.org/officeDocument/2006/relationships" id="263" r:id="R8d23f71fc38a4065"/>
    <p:sldId xmlns:r="http://schemas.openxmlformats.org/officeDocument/2006/relationships" id="264" r:id="R4848cbdc8f974569"/>
    <p:sldId xmlns:r="http://schemas.openxmlformats.org/officeDocument/2006/relationships" id="265" r:id="R18267efc410f4f8e"/>
    <p:sldId xmlns:r="http://schemas.openxmlformats.org/officeDocument/2006/relationships" id="266" r:id="R4359a0a299e747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13127d7d224a3d" /><Relationship Type="http://schemas.openxmlformats.org/officeDocument/2006/relationships/slideMaster" Target="/ppt/slideMasters/slideMaster1.xml" Id="R0105dfefabb8430b" /><Relationship Type="http://schemas.openxmlformats.org/officeDocument/2006/relationships/notesMaster" Target="/ppt/notesMasters/notesMaster1.xml" Id="R358d21f276e14e38" /><Relationship Type="http://schemas.openxmlformats.org/officeDocument/2006/relationships/presProps" Target="/ppt/presProps.xml" Id="R30c8f5c1f8854def" /><Relationship Type="http://schemas.openxmlformats.org/officeDocument/2006/relationships/tableStyles" Target="/ppt/tableStyles.xml" Id="R78f06ab09d74460c" /><Relationship Type="http://schemas.openxmlformats.org/officeDocument/2006/relationships/slide" Target="/ppt/slides/slide1.xml" Id="R90469dc9f6214331" /><Relationship Type="http://schemas.openxmlformats.org/officeDocument/2006/relationships/slide" Target="/ppt/slides/slide2.xml" Id="Ra16ae5da91134449" /><Relationship Type="http://schemas.openxmlformats.org/officeDocument/2006/relationships/slide" Target="/ppt/slides/slide3.xml" Id="R2bbe093a63e64270" /><Relationship Type="http://schemas.openxmlformats.org/officeDocument/2006/relationships/slide" Target="/ppt/slides/slide4.xml" Id="R79ed08e174ec4c4c" /><Relationship Type="http://schemas.openxmlformats.org/officeDocument/2006/relationships/slide" Target="/ppt/slides/slide5.xml" Id="Rb65eb1b62946427e" /><Relationship Type="http://schemas.openxmlformats.org/officeDocument/2006/relationships/slide" Target="/ppt/slides/slide6.xml" Id="Rc9341648c65c4bbe" /><Relationship Type="http://schemas.openxmlformats.org/officeDocument/2006/relationships/slide" Target="/ppt/slides/slide7.xml" Id="R7ad3e8e6e70544dd" /><Relationship Type="http://schemas.openxmlformats.org/officeDocument/2006/relationships/slide" Target="/ppt/slides/slide8.xml" Id="R8d23f71fc38a4065" /><Relationship Type="http://schemas.openxmlformats.org/officeDocument/2006/relationships/slide" Target="/ppt/slides/slide9.xml" Id="R4848cbdc8f974569" /><Relationship Type="http://schemas.openxmlformats.org/officeDocument/2006/relationships/slide" Target="/ppt/slides/slide10.xml" Id="R18267efc410f4f8e" /><Relationship Type="http://schemas.openxmlformats.org/officeDocument/2006/relationships/slide" Target="/ppt/slides/slide11.xml" Id="R4359a0a299e747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e4679422b040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56eb3366424611" /><Relationship Type="http://schemas.openxmlformats.org/officeDocument/2006/relationships/notesMaster" Target="/ppt/notesMasters/notesMaster1.xml" Id="R11352d1c7cb74e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7b6db1ad1244e6" /><Relationship Type="http://schemas.openxmlformats.org/officeDocument/2006/relationships/notesMaster" Target="/ppt/notesMasters/notesMaster1.xml" Id="Rb5800ec2818a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ca0fea79041a7" /><Relationship Type="http://schemas.openxmlformats.org/officeDocument/2006/relationships/notesMaster" Target="/ppt/notesMasters/notesMaster1.xml" Id="R454f00a227a340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8021bfe470434a" /><Relationship Type="http://schemas.openxmlformats.org/officeDocument/2006/relationships/notesMaster" Target="/ppt/notesMasters/notesMaster1.xml" Id="R033ea592bea24c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92b4bd6f8c4096" /><Relationship Type="http://schemas.openxmlformats.org/officeDocument/2006/relationships/notesMaster" Target="/ppt/notesMasters/notesMaster1.xml" Id="R89f72794d58d4f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b1d6e926f94dbd" /><Relationship Type="http://schemas.openxmlformats.org/officeDocument/2006/relationships/notesMaster" Target="/ppt/notesMasters/notesMaster1.xml" Id="R58d951d332a64b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236e36474243e3" /><Relationship Type="http://schemas.openxmlformats.org/officeDocument/2006/relationships/notesMaster" Target="/ppt/notesMasters/notesMaster1.xml" Id="R94b63d5babad4a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04c27344e54e21" /><Relationship Type="http://schemas.openxmlformats.org/officeDocument/2006/relationships/notesMaster" Target="/ppt/notesMasters/notesMaster1.xml" Id="R7ab241ad56a248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beb60cc16c4c0f" /><Relationship Type="http://schemas.openxmlformats.org/officeDocument/2006/relationships/notesMaster" Target="/ppt/notesMasters/notesMaster1.xml" Id="R40fe1e4b148346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5913ffc7134842" /><Relationship Type="http://schemas.openxmlformats.org/officeDocument/2006/relationships/notesMaster" Target="/ppt/notesMasters/notesMaster1.xml" Id="Rd9a41a3a436948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0eb757dd364604" /><Relationship Type="http://schemas.openxmlformats.org/officeDocument/2006/relationships/notesMaster" Target="/ppt/notesMasters/notesMaster1.xml" Id="R7764c4544f3a44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Assessment source: Integration Microservices Engineer-2(1).pdf. This presentation describes the implemented solution and verified local results. Repository link accompanies the submission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 and test/deployment outputs supplied by the candidate in this project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candidate SoapUI response for Kenya and implemented create flow. WSDL: http://webservices.oorsprong.org/websamples.countryinfo/CountryInfoService.wso?WSDL. XML request text is escaped. Parser disables DOCTYPE and external DTD/schema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 and test/deployment outputs supplied by the candidate in this project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implemented transport configuration and service/controller tests. The breaker wraps retry and counts logical transport calls. SOAP faults and XML parsing errors occur outside the transport breaker. Circuit state is per application process. Cached SOAP fallback is a future enhancement.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candidate request logging, http.server.requests metric output, and Kubernetes health/readiness/liveness responses. Prometheus-format export is configured. A Prometheus scraper, dashboards, and distributed tracing have not been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candidate ./mvnw clean package output on 8 October 2026, 18:17 EAT. Service and parser tests use mocks. Controller tests use standalone MockMvc. Transport tests use a local HTTP server. The context test requires running MySQL.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deployment checks and cross-replica persistence passed on 8 October 2026. Subsequent Kubernetes checks found both app pods unready after liveness/startup probe timeouts and restarts; MySQL remained ready. See README.md and 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candidate cross-replica test on 8 October 2026. Separate pod port-forwards used localhost:8083 and localhost:8084. Service port-forward selects one pod per session and does not demonstrate load balancing. This verifies shared persistence, not throughput or multi-node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implementation and verified local scope. Hibernate ddl-auto=update is currently used. Initialize a fresh schema with one application replica before scaling. External SOAP URL currently uses HTTP. HPA, cache, queue, authentication, production failover and load testing have not been implemented or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candidate README.md and docs/DEPLOYMENT.md. Full context tests require local MySQL. Dockerfile requires the packaged JAR. Use new image tags for application changes. The submitted repository link is provided in the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b1f36ca8e74b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a177ce243f43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318410e69445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26effbe38042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6545e1fb5c4e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6d61d74fc743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9A1FC5-DCAC-4CE5-9FEA-63E21D6256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4B1BC8-FD2E-4552-8EFB-FC6BAC76E8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C6B530-F4A8-4853-A8CE-43531EE07D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5711F5-8AE0-4B79-A492-2464E28A3E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299AEC-05A2-4604-A538-2841D33C86F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63497E-8F0B-4C16-9008-180BFCECE6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2E28C4-E5DA-4154-A68F-5E2DE596AB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BEEFE4-30C6-4DF2-AEB7-920ED2B805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5E24CE-7C8E-4C55-8AF8-AD3B14528B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1BB714-2298-493D-8C2F-F146D8B0F2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c2d721891c407c" /><Relationship Type="http://schemas.openxmlformats.org/officeDocument/2006/relationships/slideLayout" Target="/ppt/slideLayouts/slideLayout1.xml" Id="R355bb9e86cf9423a" /><Relationship Type="http://schemas.openxmlformats.org/officeDocument/2006/relationships/slideLayout" Target="/ppt/slideLayouts/slideLayout2.xml" Id="R8e6f349d8ad04d6c" /><Relationship Type="http://schemas.openxmlformats.org/officeDocument/2006/relationships/slideLayout" Target="/ppt/slideLayouts/slideLayout3.xml" Id="Reb0d24f6288b418a" /><Relationship Type="http://schemas.openxmlformats.org/officeDocument/2006/relationships/slideLayout" Target="/ppt/slideLayouts/slideLayout4.xml" Id="R81a89b1803484d8c" /><Relationship Type="http://schemas.openxmlformats.org/officeDocument/2006/relationships/slideLayout" Target="/ppt/slideLayouts/slideLayout5.xml" Id="R922339f2d5624087" /><Relationship Type="http://schemas.openxmlformats.org/officeDocument/2006/relationships/slideLayout" Target="/ppt/slideLayouts/slideLayout6.xml" Id="Rf17f810051014a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5bb9e86cf9423a"/>
    <p:sldLayoutId xmlns:r="http://schemas.openxmlformats.org/officeDocument/2006/relationships" id="2147483650" r:id="R8e6f349d8ad04d6c"/>
    <p:sldLayoutId xmlns:r="http://schemas.openxmlformats.org/officeDocument/2006/relationships" id="2147483651" r:id="Reb0d24f6288b418a"/>
    <p:sldLayoutId xmlns:r="http://schemas.openxmlformats.org/officeDocument/2006/relationships" id="2147483652" r:id="R81a89b1803484d8c"/>
    <p:sldLayoutId xmlns:r="http://schemas.openxmlformats.org/officeDocument/2006/relationships" id="2147483653" r:id="R922339f2d5624087"/>
    <p:sldLayoutId xmlns:r="http://schemas.openxmlformats.org/officeDocument/2006/relationships" id="2147483654" r:id="Rf17f810051014a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7efa9875774875" /><Relationship Type="http://schemas.openxmlformats.org/officeDocument/2006/relationships/notesSlide" Target="/ppt/notesSlides/notesSlide1.xml" Id="R97d283602fe448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02b2b3ebd544be" /><Relationship Type="http://schemas.openxmlformats.org/officeDocument/2006/relationships/notesSlide" Target="/ppt/notesSlides/notesSlide2.xml" Id="R17098582e2c742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e516b85d1d44b3" /><Relationship Type="http://schemas.openxmlformats.org/officeDocument/2006/relationships/notesSlide" Target="/ppt/notesSlides/notesSlide3.xml" Id="R40391da6dc514c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1556b30ba04672" /><Relationship Type="http://schemas.openxmlformats.org/officeDocument/2006/relationships/notesSlide" Target="/ppt/notesSlides/notesSlide4.xml" Id="R0f669b8f38dc4f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df175de1802415a" /><Relationship Type="http://schemas.openxmlformats.org/officeDocument/2006/relationships/notesSlide" Target="/ppt/notesSlides/notesSlide5.xml" Id="R34167a318e094b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c902a7cb674281" /><Relationship Type="http://schemas.openxmlformats.org/officeDocument/2006/relationships/notesSlide" Target="/ppt/notesSlides/notesSlide6.xml" Id="Rc4f2fae3b68e4c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00bd9efffd4ea3" /><Relationship Type="http://schemas.openxmlformats.org/officeDocument/2006/relationships/notesSlide" Target="/ppt/notesSlides/notesSlide7.xml" Id="Rdc4b9643fb9348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ae3803d4e844a6" /><Relationship Type="http://schemas.openxmlformats.org/officeDocument/2006/relationships/notesSlide" Target="/ppt/notesSlides/notesSlide8.xml" Id="R0e225c86bf0d41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ba882e6b204a0c" /><Relationship Type="http://schemas.openxmlformats.org/officeDocument/2006/relationships/notesSlide" Target="/ppt/notesSlides/notesSlide9.xml" Id="Raa8b32099d8a4a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b7e8383c954e80" /><Relationship Type="http://schemas.openxmlformats.org/officeDocument/2006/relationships/notesSlide" Target="/ppt/notesSlides/notesSlide10.xml" Id="R9c5f106f936f4d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8298dac6984c57" /><Relationship Type="http://schemas.openxmlformats.org/officeDocument/2006/relationships/notesSlide" Target="/ppt/notesSlides/notesSlide11.xml" Id="R5940a07d4e8a4f54" /></Relationships>
</file>

<file path=ppt/slides/slide1.xml><?xml version="1.0" encoding="utf-8"?>
<p:sld xmlns:p="http://schemas.openxmlformats.org/presentationml/2006/main">
  <p:cSld>
    <p:bg>
      <p:bgPr>
        <a:solidFill xmlns:a="http://schemas.openxmlformats.org/drawingml/2006/main">
          <a:srgbClr val="12334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8EC151-2B88-49DB-A634-665FC70ED50E}"/>
              </a:ext>
            </a:extLst>
          </p:cNvPr>
          <p:cNvSpPr>
            <a:spLocks xmlns:a="http://schemas.openxmlformats.org/drawingml/2006/main" noGrp="1"/>
          </p:cNvSpPr>
          <p:nvPr/>
        </p:nvSpPr>
        <p:spPr>
          <a:xfrm xmlns:a="http://schemas.openxmlformats.org/drawingml/2006/main">
            <a:off x="685800" y="8763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79D2D1"/>
                </a:solidFill>
                <a:latin typeface="DejaVu Sans"/>
                <a:ea typeface="DejaVu Sans"/>
                <a:cs typeface="DejaVu Sans"/>
              </a:defRPr>
            </a:defPPr>
          </a:lstStyle>
          <a:p xmlns:a="http://schemas.openxmlformats.org/drawingml/2006/main">
            <a:pPr>
              <a:buNone/>
              <a:defRPr sz="1800" b="1">
                <a:solidFill>
                  <a:srgbClr val="79D2D1"/>
                </a:solidFill>
                <a:latin typeface="DejaVu Sans"/>
                <a:ea typeface="DejaVu Sans"/>
                <a:cs typeface="DejaVu Sans"/>
              </a:defRPr>
            </a:pPr>
            <a:r>
              <a:rPr sz="1800" b="1">
                <a:solidFill>
                  <a:srgbClr val="79D2D1"/>
                </a:solidFill>
                <a:latin typeface="DejaVu Sans"/>
                <a:ea typeface="DejaVu Sans"/>
                <a:cs typeface="DejaVu Sans"/>
              </a:rPr>
              <a:t>NCBA LOOP CASE STUDY</a:t>
            </a:r>
          </a:p>
        </p:txBody>
      </p:sp>
      <p:sp>
        <p:nvSpPr>
          <p:cNvPr id="2" name="">
            <a:extLst xmlns:a="http://schemas.openxmlformats.org/drawingml/2006/main">
              <a:ext uri="{FF2B5EF4-FFF2-40B4-BE49-F238E27FC236}">
                <a16:creationId xmlns:a16="http://schemas.microsoft.com/office/drawing/2014/main" id="{EBC070C0-32EB-4BA9-9BDF-BD438411D573}"/>
              </a:ext>
            </a:extLst>
          </p:cNvPr>
          <p:cNvSpPr>
            <a:spLocks xmlns:a="http://schemas.openxmlformats.org/drawingml/2006/main" noGrp="1"/>
          </p:cNvSpPr>
          <p:nvPr/>
        </p:nvSpPr>
        <p:spPr>
          <a:xfrm xmlns:a="http://schemas.openxmlformats.org/drawingml/2006/main">
            <a:off x="685800" y="2095500"/>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DejaVu Sans"/>
                <a:ea typeface="DejaVu Sans"/>
                <a:cs typeface="DejaVu Sans"/>
              </a:defRPr>
            </a:defPPr>
          </a:lstStyle>
          <a:p xmlns:a="http://schemas.openxmlformats.org/drawingml/2006/main">
            <a:pPr>
              <a:buNone/>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Country Integration</a:t>
            </a:r>
          </a:p>
          <a:p xmlns:a="http://schemas.openxmlformats.org/drawingml/2006/main">
            <a:pPr>
              <a:buNone/>
              <a:defRPr sz="4950" b="1">
                <a:solidFill>
                  <a:srgbClr val="FFFFFF"/>
                </a:solidFill>
                <a:latin typeface="DejaVu Sans"/>
                <a:ea typeface="DejaVu Sans"/>
                <a:cs typeface="DejaVu Sans"/>
              </a:defRPr>
            </a:pPr>
            <a:r>
              <a:rPr sz="4950" b="1">
                <a:solidFill>
                  <a:srgbClr val="FFFFFF"/>
                </a:solidFill>
                <a:latin typeface="DejaVu Sans"/>
                <a:ea typeface="DejaVu Sans"/>
                <a:cs typeface="DejaVu Sans"/>
              </a:rPr>
              <a:t>Service</a:t>
            </a:r>
          </a:p>
        </p:txBody>
      </p:sp>
      <p:sp>
        <p:nvSpPr>
          <p:cNvPr id="3" name="">
            <a:extLst xmlns:a="http://schemas.openxmlformats.org/drawingml/2006/main">
              <a:ext uri="{FF2B5EF4-FFF2-40B4-BE49-F238E27FC236}">
                <a16:creationId xmlns:a16="http://schemas.microsoft.com/office/drawing/2014/main" id="{AA707F8D-356C-4EC1-8D0C-4E1B1E0E25D8}"/>
              </a:ext>
            </a:extLst>
          </p:cNvPr>
          <p:cNvSpPr>
            <a:spLocks xmlns:a="http://schemas.openxmlformats.org/drawingml/2006/main" noGrp="1"/>
          </p:cNvSpPr>
          <p:nvPr/>
        </p:nvSpPr>
        <p:spPr>
          <a:xfrm xmlns:a="http://schemas.openxmlformats.org/drawingml/2006/main">
            <a:off x="685800" y="4333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DejaVu Sans"/>
                <a:ea typeface="DejaVu Sans"/>
                <a:cs typeface="DejaVu Sans"/>
              </a:defRPr>
            </a:defPPr>
          </a:lstStyle>
          <a:p xmlns:a="http://schemas.openxmlformats.org/drawingml/2006/main">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Integrations and Microservices Engineer</a:t>
            </a:r>
          </a:p>
        </p:txBody>
      </p:sp>
      <p:sp>
        <p:nvSpPr>
          <p:cNvPr id="4" name="">
            <a:extLst xmlns:a="http://schemas.openxmlformats.org/drawingml/2006/main">
              <a:ext uri="{FF2B5EF4-FFF2-40B4-BE49-F238E27FC236}">
                <a16:creationId xmlns:a16="http://schemas.microsoft.com/office/drawing/2014/main" id="{E9281B45-3E48-4C15-8735-2A192BA0F07B}"/>
              </a:ext>
            </a:extLst>
          </p:cNvPr>
          <p:cNvSpPr>
            <a:spLocks xmlns:a="http://schemas.openxmlformats.org/drawingml/2006/main" noGrp="1"/>
          </p:cNvSpPr>
          <p:nvPr/>
        </p:nvSpPr>
        <p:spPr>
          <a:xfrm xmlns:a="http://schemas.openxmlformats.org/drawingml/2006/main">
            <a:off x="685800" y="54483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8DCE5"/>
                </a:solidFill>
                <a:latin typeface="DejaVu Sans"/>
                <a:ea typeface="DejaVu Sans"/>
                <a:cs typeface="DejaVu Sans"/>
              </a:defRPr>
            </a:defPPr>
          </a:lstStyle>
          <a:p xmlns:a="http://schemas.openxmlformats.org/drawingml/2006/main">
            <a:pPr>
              <a:buNone/>
              <a:defRPr sz="1875" b="0">
                <a:solidFill>
                  <a:srgbClr val="C8DCE5"/>
                </a:solidFill>
                <a:latin typeface="DejaVu Sans"/>
                <a:ea typeface="DejaVu Sans"/>
                <a:cs typeface="DejaVu Sans"/>
              </a:defRPr>
            </a:pPr>
            <a:r>
              <a:rPr sz="1875" b="0">
                <a:solidFill>
                  <a:srgbClr val="C8DCE5"/>
                </a:solidFill>
                <a:latin typeface="DejaVu Sans"/>
                <a:ea typeface="DejaVu Sans"/>
                <a:cs typeface="DejaVu Sans"/>
              </a:rPr>
              <a:t>Samuel Mutua Kimani</a:t>
            </a:r>
          </a:p>
          <a:p xmlns:a="http://schemas.openxmlformats.org/drawingml/2006/main">
            <a:pPr>
              <a:buNone/>
              <a:defRPr sz="1875" b="0">
                <a:solidFill>
                  <a:srgbClr val="C8DCE5"/>
                </a:solidFill>
                <a:latin typeface="DejaVu Sans"/>
                <a:ea typeface="DejaVu Sans"/>
                <a:cs typeface="DejaVu Sans"/>
              </a:defRPr>
            </a:pPr>
            <a:r>
              <a:rPr sz="1875" b="0">
                <a:solidFill>
                  <a:srgbClr val="C8DCE5"/>
                </a:solidFill>
                <a:latin typeface="DejaVu Sans"/>
                <a:ea typeface="DejaVu Sans"/>
                <a:cs typeface="DejaVu Sans"/>
              </a:rPr>
              <a:t>8 October 2026</a:t>
            </a:r>
          </a:p>
        </p:txBody>
      </p:sp>
    </p:spTree>
    <p:extLst>
      <p:ext uri="{BB962C8B-B14F-4D97-AF65-F5344CB8AC3E}">
        <p14:creationId xmlns:p14="http://schemas.microsoft.com/office/powerpoint/2010/main" val="96698659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02201D-4DFD-4CEA-B0B9-2A0213FBB854}"/>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Component responsibilities</a:t>
            </a:r>
          </a:p>
        </p:txBody>
      </p:sp>
      <p:sp>
        <p:nvSpPr>
          <p:cNvPr id="2" name="">
            <a:extLst xmlns:a="http://schemas.openxmlformats.org/drawingml/2006/main">
              <a:ext uri="{FF2B5EF4-FFF2-40B4-BE49-F238E27FC236}">
                <a16:creationId xmlns:a16="http://schemas.microsoft.com/office/drawing/2014/main" id="{30EF876C-E961-4784-B99E-B79679B1F1A8}"/>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REST boundary</a:t>
            </a:r>
          </a:p>
        </p:txBody>
      </p:sp>
      <p:sp>
        <p:nvSpPr>
          <p:cNvPr id="3" name="">
            <a:extLst xmlns:a="http://schemas.openxmlformats.org/drawingml/2006/main">
              <a:ext uri="{FF2B5EF4-FFF2-40B4-BE49-F238E27FC236}">
                <a16:creationId xmlns:a16="http://schemas.microsoft.com/office/drawing/2014/main" id="{2651628E-B002-4506-8AC9-238EEA854B4F}"/>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CountryController accepts JSON. Request DTOs validate fields. Exception advice returns clear HTTP errors.</a:t>
            </a:r>
          </a:p>
        </p:txBody>
      </p:sp>
      <p:sp>
        <p:nvSpPr>
          <p:cNvPr id="4" name="">
            <a:extLst xmlns:a="http://schemas.openxmlformats.org/drawingml/2006/main">
              <a:ext uri="{FF2B5EF4-FFF2-40B4-BE49-F238E27FC236}">
                <a16:creationId xmlns:a16="http://schemas.microsoft.com/office/drawing/2014/main" id="{2EBDB7DD-5854-4189-8C2F-287D433F28DA}"/>
              </a:ext>
            </a:extLst>
          </p:cNvPr>
          <p:cNvSpPr>
            <a:spLocks xmlns:a="http://schemas.openxmlformats.org/drawingml/2006/main" noGrp="1"/>
          </p:cNvSpPr>
          <p:nvPr/>
        </p:nvSpPr>
        <p:spPr>
          <a:xfrm xmlns:a="http://schemas.openxmlformats.org/drawingml/2006/main">
            <a:off x="685800" y="3000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Application logic</a:t>
            </a:r>
          </a:p>
        </p:txBody>
      </p:sp>
      <p:sp>
        <p:nvSpPr>
          <p:cNvPr id="5" name="">
            <a:extLst xmlns:a="http://schemas.openxmlformats.org/drawingml/2006/main">
              <a:ext uri="{FF2B5EF4-FFF2-40B4-BE49-F238E27FC236}">
                <a16:creationId xmlns:a16="http://schemas.microsoft.com/office/drawing/2014/main" id="{75963CB2-D374-453B-891F-4F243E0FF855}"/>
              </a:ext>
            </a:extLst>
          </p:cNvPr>
          <p:cNvSpPr>
            <a:spLocks xmlns:a="http://schemas.openxmlformats.org/drawingml/2006/main" noGrp="1"/>
          </p:cNvSpPr>
          <p:nvPr/>
        </p:nvSpPr>
        <p:spPr>
          <a:xfrm xmlns:a="http://schemas.openxmlformats.org/drawingml/2006/main">
            <a:off x="685800" y="336232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CountryService normalizes names, checks duplicates, and coordinates SOAP calls with persistence.</a:t>
            </a:r>
          </a:p>
        </p:txBody>
      </p:sp>
      <p:sp>
        <p:nvSpPr>
          <p:cNvPr id="6" name="">
            <a:extLst xmlns:a="http://schemas.openxmlformats.org/drawingml/2006/main">
              <a:ext uri="{FF2B5EF4-FFF2-40B4-BE49-F238E27FC236}">
                <a16:creationId xmlns:a16="http://schemas.microsoft.com/office/drawing/2014/main" id="{4730FDEE-E681-4B2A-B40F-23C56A987431}"/>
              </a:ext>
            </a:extLst>
          </p:cNvPr>
          <p:cNvSpPr>
            <a:spLocks xmlns:a="http://schemas.openxmlformats.org/drawingml/2006/main" noGrp="1"/>
          </p:cNvSpPr>
          <p:nvPr/>
        </p:nvSpPr>
        <p:spPr>
          <a:xfrm xmlns:a="http://schemas.openxmlformats.org/drawingml/2006/main">
            <a:off x="685800" y="4381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Integration and storage</a:t>
            </a:r>
          </a:p>
        </p:txBody>
      </p:sp>
      <p:sp>
        <p:nvSpPr>
          <p:cNvPr id="7" name="">
            <a:extLst xmlns:a="http://schemas.openxmlformats.org/drawingml/2006/main">
              <a:ext uri="{FF2B5EF4-FFF2-40B4-BE49-F238E27FC236}">
                <a16:creationId xmlns:a16="http://schemas.microsoft.com/office/drawing/2014/main" id="{16D5A0FD-ED0D-4A6E-AE1C-DCFD8BA38778}"/>
              </a:ext>
            </a:extLst>
          </p:cNvPr>
          <p:cNvSpPr>
            <a:spLocks xmlns:a="http://schemas.openxmlformats.org/drawingml/2006/main" noGrp="1"/>
          </p:cNvSpPr>
          <p:nvPr/>
        </p:nvSpPr>
        <p:spPr>
          <a:xfrm xmlns:a="http://schemas.openxmlformats.org/drawingml/2006/main">
            <a:off x="685800" y="47434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CountrySoapClient parses SOAP results. SoapTransport handles HTTP failures. JPA repositories access MySQL.</a:t>
            </a:r>
          </a:p>
        </p:txBody>
      </p:sp>
      <p:sp>
        <p:nvSpPr>
          <p:cNvPr id="8" name="">
            <a:extLst xmlns:a="http://schemas.openxmlformats.org/drawingml/2006/main">
              <a:ext uri="{FF2B5EF4-FFF2-40B4-BE49-F238E27FC236}">
                <a16:creationId xmlns:a16="http://schemas.microsoft.com/office/drawing/2014/main" id="{8F85598B-FF72-4AD3-983E-D229B1EDFFBF}"/>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9" name="">
            <a:extLst xmlns:a="http://schemas.openxmlformats.org/drawingml/2006/main">
              <a:ext uri="{FF2B5EF4-FFF2-40B4-BE49-F238E27FC236}">
                <a16:creationId xmlns:a16="http://schemas.microsoft.com/office/drawing/2014/main" id="{AF6E45F8-3F6A-4F5A-A10D-ED51E0C58197}"/>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02</a:t>
            </a:r>
          </a:p>
        </p:txBody>
      </p:sp>
    </p:spTree>
    <p:extLst>
      <p:ext uri="{BB962C8B-B14F-4D97-AF65-F5344CB8AC3E}">
        <p14:creationId xmlns:p14="http://schemas.microsoft.com/office/powerpoint/2010/main" val="79076290"/>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5D6E48-508A-4C21-8945-F155977B7510}"/>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SOAP integration flow</a:t>
            </a:r>
          </a:p>
        </p:txBody>
      </p:sp>
      <p:sp>
        <p:nvSpPr>
          <p:cNvPr id="2" name="">
            <a:extLst xmlns:a="http://schemas.openxmlformats.org/drawingml/2006/main">
              <a:ext uri="{FF2B5EF4-FFF2-40B4-BE49-F238E27FC236}">
                <a16:creationId xmlns:a16="http://schemas.microsoft.com/office/drawing/2014/main" id="{3B78394D-A04D-4335-B11A-ADCC6B4AC766}"/>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1. Resolve the ISO code</a:t>
            </a:r>
          </a:p>
        </p:txBody>
      </p:sp>
      <p:sp>
        <p:nvSpPr>
          <p:cNvPr id="3" name="">
            <a:extLst xmlns:a="http://schemas.openxmlformats.org/drawingml/2006/main">
              <a:ext uri="{FF2B5EF4-FFF2-40B4-BE49-F238E27FC236}">
                <a16:creationId xmlns:a16="http://schemas.microsoft.com/office/drawing/2014/main" id="{04358F46-2BB7-4742-B9FD-2F19B545E71F}"/>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POST /api/countries accepts {"name":"kenya"}. The service converts the name to Kenya and calls CountryISOCode.</a:t>
            </a:r>
          </a:p>
        </p:txBody>
      </p:sp>
      <p:sp>
        <p:nvSpPr>
          <p:cNvPr id="4" name="">
            <a:extLst xmlns:a="http://schemas.openxmlformats.org/drawingml/2006/main">
              <a:ext uri="{FF2B5EF4-FFF2-40B4-BE49-F238E27FC236}">
                <a16:creationId xmlns:a16="http://schemas.microsoft.com/office/drawing/2014/main" id="{5D16B147-1188-40FD-B278-D9CBA5D3B0E2}"/>
              </a:ext>
            </a:extLst>
          </p:cNvPr>
          <p:cNvSpPr>
            <a:spLocks xmlns:a="http://schemas.openxmlformats.org/drawingml/2006/main" noGrp="1"/>
          </p:cNvSpPr>
          <p:nvPr/>
        </p:nvSpPr>
        <p:spPr>
          <a:xfrm xmlns:a="http://schemas.openxmlformats.org/drawingml/2006/main">
            <a:off x="685800" y="3000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2. Retrieve country details</a:t>
            </a:r>
          </a:p>
        </p:txBody>
      </p:sp>
      <p:sp>
        <p:nvSpPr>
          <p:cNvPr id="5" name="">
            <a:extLst xmlns:a="http://schemas.openxmlformats.org/drawingml/2006/main">
              <a:ext uri="{FF2B5EF4-FFF2-40B4-BE49-F238E27FC236}">
                <a16:creationId xmlns:a16="http://schemas.microsoft.com/office/drawing/2014/main" id="{63025EDF-9C79-45DB-B2F8-A85EAAE06D99}"/>
              </a:ext>
            </a:extLst>
          </p:cNvPr>
          <p:cNvSpPr>
            <a:spLocks xmlns:a="http://schemas.openxmlformats.org/drawingml/2006/main" noGrp="1"/>
          </p:cNvSpPr>
          <p:nvPr/>
        </p:nvSpPr>
        <p:spPr>
          <a:xfrm xmlns:a="http://schemas.openxmlformats.org/drawingml/2006/main">
            <a:off x="685800" y="336232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The returned KE code becomes the input to FullCountryInfo. Namespace-aware parsing maps country fields and languages.</a:t>
            </a:r>
          </a:p>
        </p:txBody>
      </p:sp>
      <p:sp>
        <p:nvSpPr>
          <p:cNvPr id="6" name="">
            <a:extLst xmlns:a="http://schemas.openxmlformats.org/drawingml/2006/main">
              <a:ext uri="{FF2B5EF4-FFF2-40B4-BE49-F238E27FC236}">
                <a16:creationId xmlns:a16="http://schemas.microsoft.com/office/drawing/2014/main" id="{471A6F30-93F4-4F77-B6BE-05844FB82311}"/>
              </a:ext>
            </a:extLst>
          </p:cNvPr>
          <p:cNvSpPr>
            <a:spLocks xmlns:a="http://schemas.openxmlformats.org/drawingml/2006/main" noGrp="1"/>
          </p:cNvSpPr>
          <p:nvPr/>
        </p:nvSpPr>
        <p:spPr>
          <a:xfrm xmlns:a="http://schemas.openxmlformats.org/drawingml/2006/main">
            <a:off x="685800" y="4381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3. Persist and respond</a:t>
            </a:r>
          </a:p>
        </p:txBody>
      </p:sp>
      <p:sp>
        <p:nvSpPr>
          <p:cNvPr id="7" name="">
            <a:extLst xmlns:a="http://schemas.openxmlformats.org/drawingml/2006/main">
              <a:ext uri="{FF2B5EF4-FFF2-40B4-BE49-F238E27FC236}">
                <a16:creationId xmlns:a16="http://schemas.microsoft.com/office/drawing/2014/main" id="{2806B52C-B754-432F-A6EB-F1A7C0CC83AD}"/>
              </a:ext>
            </a:extLst>
          </p:cNvPr>
          <p:cNvSpPr>
            <a:spLocks xmlns:a="http://schemas.openxmlformats.org/drawingml/2006/main" noGrp="1"/>
          </p:cNvSpPr>
          <p:nvPr/>
        </p:nvSpPr>
        <p:spPr>
          <a:xfrm xmlns:a="http://schemas.openxmlformats.org/drawingml/2006/main">
            <a:off x="685800" y="47434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MySQL stores the country and languages. The endpoint returns 201 Created with a generated ID and Location header.</a:t>
            </a:r>
          </a:p>
        </p:txBody>
      </p:sp>
      <p:sp>
        <p:nvSpPr>
          <p:cNvPr id="8" name="">
            <a:extLst xmlns:a="http://schemas.openxmlformats.org/drawingml/2006/main">
              <a:ext uri="{FF2B5EF4-FFF2-40B4-BE49-F238E27FC236}">
                <a16:creationId xmlns:a16="http://schemas.microsoft.com/office/drawing/2014/main" id="{3388EAEF-DC5B-451E-882F-98C6A3EF34F1}"/>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9" name="">
            <a:extLst xmlns:a="http://schemas.openxmlformats.org/drawingml/2006/main">
              <a:ext uri="{FF2B5EF4-FFF2-40B4-BE49-F238E27FC236}">
                <a16:creationId xmlns:a16="http://schemas.microsoft.com/office/drawing/2014/main" id="{80962931-B23F-47FD-81CA-90814FAD103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03</a:t>
            </a:r>
          </a:p>
        </p:txBody>
      </p:sp>
    </p:spTree>
    <p:extLst>
      <p:ext uri="{BB962C8B-B14F-4D97-AF65-F5344CB8AC3E}">
        <p14:creationId xmlns:p14="http://schemas.microsoft.com/office/powerpoint/2010/main" val="81187919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7F3993-A719-4F6D-9D85-E3FD6AF5F47E}"/>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Data model and REST operations</a:t>
            </a:r>
          </a:p>
        </p:txBody>
      </p:sp>
      <p:sp>
        <p:nvSpPr>
          <p:cNvPr id="2" name="">
            <a:extLst xmlns:a="http://schemas.openxmlformats.org/drawingml/2006/main">
              <a:ext uri="{FF2B5EF4-FFF2-40B4-BE49-F238E27FC236}">
                <a16:creationId xmlns:a16="http://schemas.microsoft.com/office/drawing/2014/main" id="{CAB3269E-E429-4D5D-A017-D60F3B8CE78E}"/>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CountryInfo and Language</a:t>
            </a:r>
          </a:p>
        </p:txBody>
      </p:sp>
      <p:sp>
        <p:nvSpPr>
          <p:cNvPr id="3" name="">
            <a:extLst xmlns:a="http://schemas.openxmlformats.org/drawingml/2006/main">
              <a:ext uri="{FF2B5EF4-FFF2-40B4-BE49-F238E27FC236}">
                <a16:creationId xmlns:a16="http://schemas.microsoft.com/office/drawing/2014/main" id="{18B89598-A7A8-4E54-B412-F4B1C6B0716D}"/>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CountryInfo stores ISO code, name, capital, phone, continent, currency, and flag URL. Language rows reference their country.</a:t>
            </a:r>
          </a:p>
        </p:txBody>
      </p:sp>
      <p:sp>
        <p:nvSpPr>
          <p:cNvPr id="4" name="">
            <a:extLst xmlns:a="http://schemas.openxmlformats.org/drawingml/2006/main">
              <a:ext uri="{FF2B5EF4-FFF2-40B4-BE49-F238E27FC236}">
                <a16:creationId xmlns:a16="http://schemas.microsoft.com/office/drawing/2014/main" id="{F139E942-9BD7-4206-AE34-81BCD4920F66}"/>
              </a:ext>
            </a:extLst>
          </p:cNvPr>
          <p:cNvSpPr>
            <a:spLocks xmlns:a="http://schemas.openxmlformats.org/drawingml/2006/main" noGrp="1"/>
          </p:cNvSpPr>
          <p:nvPr/>
        </p:nvSpPr>
        <p:spPr>
          <a:xfrm xmlns:a="http://schemas.openxmlformats.org/drawingml/2006/main">
            <a:off x="685800" y="3000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CRUD endpoints</a:t>
            </a:r>
          </a:p>
        </p:txBody>
      </p:sp>
      <p:sp>
        <p:nvSpPr>
          <p:cNvPr id="5" name="">
            <a:extLst xmlns:a="http://schemas.openxmlformats.org/drawingml/2006/main">
              <a:ext uri="{FF2B5EF4-FFF2-40B4-BE49-F238E27FC236}">
                <a16:creationId xmlns:a16="http://schemas.microsoft.com/office/drawing/2014/main" id="{97AABBCA-6F92-42B3-A5DD-79639450242B}"/>
              </a:ext>
            </a:extLst>
          </p:cNvPr>
          <p:cNvSpPr>
            <a:spLocks xmlns:a="http://schemas.openxmlformats.org/drawingml/2006/main" noGrp="1"/>
          </p:cNvSpPr>
          <p:nvPr/>
        </p:nvSpPr>
        <p:spPr>
          <a:xfrm xmlns:a="http://schemas.openxmlformats.org/drawingml/2006/main">
            <a:off x="685800" y="336232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POST creates. GET lists or retrieves by ID. PUT updates editable details and replaces languages. DELETE returns 204.</a:t>
            </a:r>
          </a:p>
        </p:txBody>
      </p:sp>
      <p:sp>
        <p:nvSpPr>
          <p:cNvPr id="6" name="">
            <a:extLst xmlns:a="http://schemas.openxmlformats.org/drawingml/2006/main">
              <a:ext uri="{FF2B5EF4-FFF2-40B4-BE49-F238E27FC236}">
                <a16:creationId xmlns:a16="http://schemas.microsoft.com/office/drawing/2014/main" id="{12DEB381-B0C4-4083-8FBF-DD04EBD40182}"/>
              </a:ext>
            </a:extLst>
          </p:cNvPr>
          <p:cNvSpPr>
            <a:spLocks xmlns:a="http://schemas.openxmlformats.org/drawingml/2006/main" noGrp="1"/>
          </p:cNvSpPr>
          <p:nvPr/>
        </p:nvSpPr>
        <p:spPr>
          <a:xfrm xmlns:a="http://schemas.openxmlformats.org/drawingml/2006/main">
            <a:off x="685800" y="4381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Consistency</a:t>
            </a:r>
          </a:p>
        </p:txBody>
      </p:sp>
      <p:sp>
        <p:nvSpPr>
          <p:cNvPr id="7" name="">
            <a:extLst xmlns:a="http://schemas.openxmlformats.org/drawingml/2006/main">
              <a:ext uri="{FF2B5EF4-FFF2-40B4-BE49-F238E27FC236}">
                <a16:creationId xmlns:a16="http://schemas.microsoft.com/office/drawing/2014/main" id="{C86D10D2-9821-46A5-B68E-54458240394D}"/>
              </a:ext>
            </a:extLst>
          </p:cNvPr>
          <p:cNvSpPr>
            <a:spLocks xmlns:a="http://schemas.openxmlformats.org/drawingml/2006/main" noGrp="1"/>
          </p:cNvSpPr>
          <p:nvPr/>
        </p:nvSpPr>
        <p:spPr>
          <a:xfrm xmlns:a="http://schemas.openxmlformats.org/drawingml/2006/main">
            <a:off x="685800" y="47434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Unique country ISO codes prevent duplicates. Update and delete use transactions. SOAP calls occur before the database save.</a:t>
            </a:r>
          </a:p>
        </p:txBody>
      </p:sp>
      <p:sp>
        <p:nvSpPr>
          <p:cNvPr id="8" name="">
            <a:extLst xmlns:a="http://schemas.openxmlformats.org/drawingml/2006/main">
              <a:ext uri="{FF2B5EF4-FFF2-40B4-BE49-F238E27FC236}">
                <a16:creationId xmlns:a16="http://schemas.microsoft.com/office/drawing/2014/main" id="{F228CF89-326A-45DE-B3F5-14A94C7339E3}"/>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9" name="">
            <a:extLst xmlns:a="http://schemas.openxmlformats.org/drawingml/2006/main">
              <a:ext uri="{FF2B5EF4-FFF2-40B4-BE49-F238E27FC236}">
                <a16:creationId xmlns:a16="http://schemas.microsoft.com/office/drawing/2014/main" id="{7C6F1DF9-A488-4374-9AA6-6A840C100F43}"/>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04</a:t>
            </a:r>
          </a:p>
        </p:txBody>
      </p:sp>
    </p:spTree>
    <p:extLst>
      <p:ext uri="{BB962C8B-B14F-4D97-AF65-F5344CB8AC3E}">
        <p14:creationId xmlns:p14="http://schemas.microsoft.com/office/powerpoint/2010/main" val="147260230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1DC84F-AFE8-4146-93A9-EB127BB7A678}"/>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Failure handling</a:t>
            </a:r>
          </a:p>
        </p:txBody>
      </p:sp>
      <p:sp>
        <p:nvSpPr>
          <p:cNvPr id="2" name="">
            <a:extLst xmlns:a="http://schemas.openxmlformats.org/drawingml/2006/main">
              <a:ext uri="{FF2B5EF4-FFF2-40B4-BE49-F238E27FC236}">
                <a16:creationId xmlns:a16="http://schemas.microsoft.com/office/drawing/2014/main" id="{901D2308-1FDC-4C2A-84B6-66B531C8E5AB}"/>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Timeouts and retries</a:t>
            </a:r>
          </a:p>
        </p:txBody>
      </p:sp>
      <p:sp>
        <p:nvSpPr>
          <p:cNvPr id="3" name="">
            <a:extLst xmlns:a="http://schemas.openxmlformats.org/drawingml/2006/main">
              <a:ext uri="{FF2B5EF4-FFF2-40B4-BE49-F238E27FC236}">
                <a16:creationId xmlns:a16="http://schemas.microsoft.com/office/drawing/2014/main" id="{A89645F2-AB90-4103-B2EF-28354AACB4BE}"/>
              </a:ext>
            </a:extLst>
          </p:cNvPr>
          <p:cNvSpPr>
            <a:spLocks xmlns:a="http://schemas.openxmlformats.org/drawingml/2006/main" noGrp="1"/>
          </p:cNvSpPr>
          <p:nvPr/>
        </p:nvSpPr>
        <p:spPr>
          <a:xfrm xmlns:a="http://schemas.openxmlformats.org/drawingml/2006/main">
            <a:off x="685800" y="19812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HTTP connect timeout: 5 seconds. Request timeout: 8 seconds. Eligible failures receive up to 2 attempts, 300 ms apart.</a:t>
            </a:r>
          </a:p>
        </p:txBody>
      </p:sp>
      <p:sp>
        <p:nvSpPr>
          <p:cNvPr id="4" name="">
            <a:extLst xmlns:a="http://schemas.openxmlformats.org/drawingml/2006/main">
              <a:ext uri="{FF2B5EF4-FFF2-40B4-BE49-F238E27FC236}">
                <a16:creationId xmlns:a16="http://schemas.microsoft.com/office/drawing/2014/main" id="{4958C4E9-70A9-46DC-BE2A-766E92CCDA86}"/>
              </a:ext>
            </a:extLst>
          </p:cNvPr>
          <p:cNvSpPr>
            <a:spLocks xmlns:a="http://schemas.openxmlformats.org/drawingml/2006/main" noGrp="1"/>
          </p:cNvSpPr>
          <p:nvPr/>
        </p:nvSpPr>
        <p:spPr>
          <a:xfrm xmlns:a="http://schemas.openxmlformats.org/drawingml/2006/main">
            <a:off x="685800" y="2686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Circuit breaker</a:t>
            </a:r>
          </a:p>
        </p:txBody>
      </p:sp>
      <p:sp>
        <p:nvSpPr>
          <p:cNvPr id="5" name="">
            <a:extLst xmlns:a="http://schemas.openxmlformats.org/drawingml/2006/main">
              <a:ext uri="{FF2B5EF4-FFF2-40B4-BE49-F238E27FC236}">
                <a16:creationId xmlns:a16="http://schemas.microsoft.com/office/drawing/2014/main" id="{D6464C5E-4FFF-4A43-99B6-14DBC2483669}"/>
              </a:ext>
            </a:extLst>
          </p:cNvPr>
          <p:cNvSpPr>
            <a:spLocks xmlns:a="http://schemas.openxmlformats.org/drawingml/2006/main" noGrp="1"/>
          </p:cNvSpPr>
          <p:nvPr/>
        </p:nvSpPr>
        <p:spPr>
          <a:xfrm xmlns:a="http://schemas.openxmlformats.org/drawingml/2006/main">
            <a:off x="685800" y="30480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10-call window, minimum 5 calls, 50% failure threshold. Open duration: 30 seconds. Half-open permits 2 calls.</a:t>
            </a:r>
          </a:p>
        </p:txBody>
      </p:sp>
      <p:sp>
        <p:nvSpPr>
          <p:cNvPr id="6" name="">
            <a:extLst xmlns:a="http://schemas.openxmlformats.org/drawingml/2006/main">
              <a:ext uri="{FF2B5EF4-FFF2-40B4-BE49-F238E27FC236}">
                <a16:creationId xmlns:a16="http://schemas.microsoft.com/office/drawing/2014/main" id="{B97656C2-1AD9-403F-9E38-7EF608938087}"/>
              </a:ext>
            </a:extLst>
          </p:cNvPr>
          <p:cNvSpPr>
            <a:spLocks xmlns:a="http://schemas.openxmlformats.org/drawingml/2006/main" noGrp="1"/>
          </p:cNvSpPr>
          <p:nvPr/>
        </p:nvSpPr>
        <p:spPr>
          <a:xfrm xmlns:a="http://schemas.openxmlformats.org/drawingml/2006/main">
            <a:off x="685800" y="37528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Degraded operation</a:t>
            </a:r>
          </a:p>
        </p:txBody>
      </p:sp>
      <p:sp>
        <p:nvSpPr>
          <p:cNvPr id="7" name="">
            <a:extLst xmlns:a="http://schemas.openxmlformats.org/drawingml/2006/main">
              <a:ext uri="{FF2B5EF4-FFF2-40B4-BE49-F238E27FC236}">
                <a16:creationId xmlns:a16="http://schemas.microsoft.com/office/drawing/2014/main" id="{2A4C0F5B-E6CA-44D0-8DC6-989FA6DE18A2}"/>
              </a:ext>
            </a:extLst>
          </p:cNvPr>
          <p:cNvSpPr>
            <a:spLocks xmlns:a="http://schemas.openxmlformats.org/drawingml/2006/main" noGrp="1"/>
          </p:cNvSpPr>
          <p:nvPr/>
        </p:nvSpPr>
        <p:spPr>
          <a:xfrm xmlns:a="http://schemas.openxmlformats.org/drawingml/2006/main">
            <a:off x="685800" y="41148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Creation returns an explicit upstream error. Stored-country reads continue through MySQL while SOAP is unavailable.</a:t>
            </a:r>
          </a:p>
        </p:txBody>
      </p:sp>
      <p:sp>
        <p:nvSpPr>
          <p:cNvPr id="8" name="">
            <a:extLst xmlns:a="http://schemas.openxmlformats.org/drawingml/2006/main">
              <a:ext uri="{FF2B5EF4-FFF2-40B4-BE49-F238E27FC236}">
                <a16:creationId xmlns:a16="http://schemas.microsoft.com/office/drawing/2014/main" id="{BBF1FB02-C200-4F69-9097-E1ACAAF6906A}"/>
              </a:ext>
            </a:extLst>
          </p:cNvPr>
          <p:cNvSpPr>
            <a:spLocks xmlns:a="http://schemas.openxmlformats.org/drawingml/2006/main" noGrp="1"/>
          </p:cNvSpPr>
          <p:nvPr/>
        </p:nvSpPr>
        <p:spPr>
          <a:xfrm xmlns:a="http://schemas.openxmlformats.org/drawingml/2006/main">
            <a:off x="685800" y="48196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HTTP responses</a:t>
            </a:r>
          </a:p>
        </p:txBody>
      </p:sp>
      <p:sp>
        <p:nvSpPr>
          <p:cNvPr id="9" name="">
            <a:extLst xmlns:a="http://schemas.openxmlformats.org/drawingml/2006/main">
              <a:ext uri="{FF2B5EF4-FFF2-40B4-BE49-F238E27FC236}">
                <a16:creationId xmlns:a16="http://schemas.microsoft.com/office/drawing/2014/main" id="{BBE4E8A7-5F61-4454-B84B-00E03245B0DB}"/>
              </a:ext>
            </a:extLst>
          </p:cNvPr>
          <p:cNvSpPr>
            <a:spLocks xmlns:a="http://schemas.openxmlformats.org/drawingml/2006/main" noGrp="1"/>
          </p:cNvSpPr>
          <p:nvPr/>
        </p:nvSpPr>
        <p:spPr>
          <a:xfrm xmlns:a="http://schemas.openxmlformats.org/drawingml/2006/main">
            <a:off x="685800" y="51816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400 validation, 404 missing country, 405 method, 409 duplicate, 502 upstream response, 503 unavailable, 504 timeout.</a:t>
            </a:r>
          </a:p>
        </p:txBody>
      </p:sp>
      <p:sp>
        <p:nvSpPr>
          <p:cNvPr id="10" name="">
            <a:extLst xmlns:a="http://schemas.openxmlformats.org/drawingml/2006/main">
              <a:ext uri="{FF2B5EF4-FFF2-40B4-BE49-F238E27FC236}">
                <a16:creationId xmlns:a16="http://schemas.microsoft.com/office/drawing/2014/main" id="{F49D498E-CA01-4CA8-91D1-033B3B53D00B}"/>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11" name="">
            <a:extLst xmlns:a="http://schemas.openxmlformats.org/drawingml/2006/main">
              <a:ext uri="{FF2B5EF4-FFF2-40B4-BE49-F238E27FC236}">
                <a16:creationId xmlns:a16="http://schemas.microsoft.com/office/drawing/2014/main" id="{A08C5A5B-3D56-4A5C-9675-B921CCF80CE6}"/>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05</a:t>
            </a:r>
          </a:p>
        </p:txBody>
      </p:sp>
    </p:spTree>
    <p:extLst>
      <p:ext uri="{BB962C8B-B14F-4D97-AF65-F5344CB8AC3E}">
        <p14:creationId xmlns:p14="http://schemas.microsoft.com/office/powerpoint/2010/main" val="1593169265"/>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BA2C09-5BCE-4028-91F6-CB199A622956}"/>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Logs and health checks</a:t>
            </a:r>
          </a:p>
        </p:txBody>
      </p:sp>
      <p:sp>
        <p:nvSpPr>
          <p:cNvPr id="2" name="">
            <a:extLst xmlns:a="http://schemas.openxmlformats.org/drawingml/2006/main">
              <a:ext uri="{FF2B5EF4-FFF2-40B4-BE49-F238E27FC236}">
                <a16:creationId xmlns:a16="http://schemas.microsoft.com/office/drawing/2014/main" id="{DC860CE2-BCB0-4640-BAB5-7B8D91797F60}"/>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Request visibility</a:t>
            </a:r>
          </a:p>
        </p:txBody>
      </p:sp>
      <p:sp>
        <p:nvSpPr>
          <p:cNvPr id="3" name="">
            <a:extLst xmlns:a="http://schemas.openxmlformats.org/drawingml/2006/main">
              <a:ext uri="{FF2B5EF4-FFF2-40B4-BE49-F238E27FC236}">
                <a16:creationId xmlns:a16="http://schemas.microsoft.com/office/drawing/2014/main" id="{A1AB492A-00DA-4A6A-B384-618593F9F3C9}"/>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ECS JSON logs include request ID, method, path, HTTP status, and duration. Responses expose X-Request-ID.</a:t>
            </a:r>
          </a:p>
        </p:txBody>
      </p:sp>
      <p:sp>
        <p:nvSpPr>
          <p:cNvPr id="4" name="">
            <a:extLst xmlns:a="http://schemas.openxmlformats.org/drawingml/2006/main">
              <a:ext uri="{FF2B5EF4-FFF2-40B4-BE49-F238E27FC236}">
                <a16:creationId xmlns:a16="http://schemas.microsoft.com/office/drawing/2014/main" id="{AD07AE1B-73FA-4801-8ACF-A27618A0CC44}"/>
              </a:ext>
            </a:extLst>
          </p:cNvPr>
          <p:cNvSpPr>
            <a:spLocks xmlns:a="http://schemas.openxmlformats.org/drawingml/2006/main" noGrp="1"/>
          </p:cNvSpPr>
          <p:nvPr/>
        </p:nvSpPr>
        <p:spPr>
          <a:xfrm xmlns:a="http://schemas.openxmlformats.org/drawingml/2006/main">
            <a:off x="685800" y="3000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Integration diagnostics</a:t>
            </a:r>
          </a:p>
        </p:txBody>
      </p:sp>
      <p:sp>
        <p:nvSpPr>
          <p:cNvPr id="5" name="">
            <a:extLst xmlns:a="http://schemas.openxmlformats.org/drawingml/2006/main">
              <a:ext uri="{FF2B5EF4-FFF2-40B4-BE49-F238E27FC236}">
                <a16:creationId xmlns:a16="http://schemas.microsoft.com/office/drawing/2014/main" id="{CCA11202-21E2-4BA1-BB0F-D82DDB746108}"/>
              </a:ext>
            </a:extLst>
          </p:cNvPr>
          <p:cNvSpPr>
            <a:spLocks xmlns:a="http://schemas.openxmlformats.org/drawingml/2006/main" noGrp="1"/>
          </p:cNvSpPr>
          <p:nvPr/>
        </p:nvSpPr>
        <p:spPr>
          <a:xfrm xmlns:a="http://schemas.openxmlformats.org/drawingml/2006/main">
            <a:off x="685800" y="336232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SOAP logs record retry attempts, failures, and circuit transitions. Actuator exposes HTTP request timing metrics.</a:t>
            </a:r>
          </a:p>
        </p:txBody>
      </p:sp>
      <p:sp>
        <p:nvSpPr>
          <p:cNvPr id="6" name="">
            <a:extLst xmlns:a="http://schemas.openxmlformats.org/drawingml/2006/main">
              <a:ext uri="{FF2B5EF4-FFF2-40B4-BE49-F238E27FC236}">
                <a16:creationId xmlns:a16="http://schemas.microsoft.com/office/drawing/2014/main" id="{4FA9FDC9-A2DB-4D1F-B5F7-355C4DC12B33}"/>
              </a:ext>
            </a:extLst>
          </p:cNvPr>
          <p:cNvSpPr>
            <a:spLocks xmlns:a="http://schemas.openxmlformats.org/drawingml/2006/main" noGrp="1"/>
          </p:cNvSpPr>
          <p:nvPr/>
        </p:nvSpPr>
        <p:spPr>
          <a:xfrm xmlns:a="http://schemas.openxmlformats.org/drawingml/2006/main">
            <a:off x="685800" y="4381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Operational health</a:t>
            </a:r>
          </a:p>
        </p:txBody>
      </p:sp>
      <p:sp>
        <p:nvSpPr>
          <p:cNvPr id="7" name="">
            <a:extLst xmlns:a="http://schemas.openxmlformats.org/drawingml/2006/main">
              <a:ext uri="{FF2B5EF4-FFF2-40B4-BE49-F238E27FC236}">
                <a16:creationId xmlns:a16="http://schemas.microsoft.com/office/drawing/2014/main" id="{2FF6FE0D-06DE-4CD7-961E-F99818EFB6D7}"/>
              </a:ext>
            </a:extLst>
          </p:cNvPr>
          <p:cNvSpPr>
            <a:spLocks xmlns:a="http://schemas.openxmlformats.org/drawingml/2006/main" noGrp="1"/>
          </p:cNvSpPr>
          <p:nvPr/>
        </p:nvSpPr>
        <p:spPr>
          <a:xfrm xmlns:a="http://schemas.openxmlformats.org/drawingml/2006/main">
            <a:off x="685800" y="47434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Startup allows initialization time. Readiness includes database connectivity. Liveness checks application state independently.</a:t>
            </a:r>
          </a:p>
        </p:txBody>
      </p:sp>
      <p:sp>
        <p:nvSpPr>
          <p:cNvPr id="8" name="">
            <a:extLst xmlns:a="http://schemas.openxmlformats.org/drawingml/2006/main">
              <a:ext uri="{FF2B5EF4-FFF2-40B4-BE49-F238E27FC236}">
                <a16:creationId xmlns:a16="http://schemas.microsoft.com/office/drawing/2014/main" id="{99EF774D-B5D8-481A-AAE3-175E83428651}"/>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9" name="">
            <a:extLst xmlns:a="http://schemas.openxmlformats.org/drawingml/2006/main">
              <a:ext uri="{FF2B5EF4-FFF2-40B4-BE49-F238E27FC236}">
                <a16:creationId xmlns:a16="http://schemas.microsoft.com/office/drawing/2014/main" id="{2059E08D-7DEE-476E-BF85-D14F476B6E4C}"/>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06</a:t>
            </a:r>
          </a:p>
        </p:txBody>
      </p:sp>
    </p:spTree>
    <p:extLst>
      <p:ext uri="{BB962C8B-B14F-4D97-AF65-F5344CB8AC3E}">
        <p14:creationId xmlns:p14="http://schemas.microsoft.com/office/powerpoint/2010/main" val="33553669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15A425-F34E-4D55-9F0C-DC2C40464C7D}"/>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27 tests passed</a:t>
            </a:r>
          </a:p>
        </p:txBody>
      </p:sp>
      <p:sp>
        <p:nvSpPr>
          <p:cNvPr id="2" name="">
            <a:extLst xmlns:a="http://schemas.openxmlformats.org/drawingml/2006/main">
              <a:ext uri="{FF2B5EF4-FFF2-40B4-BE49-F238E27FC236}">
                <a16:creationId xmlns:a16="http://schemas.microsoft.com/office/drawing/2014/main" id="{7D89F45F-20C9-4547-A921-93258DF086F5}"/>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Service behavior, 10 tests</a:t>
            </a:r>
          </a:p>
        </p:txBody>
      </p:sp>
      <p:sp>
        <p:nvSpPr>
          <p:cNvPr id="3" name="">
            <a:extLst xmlns:a="http://schemas.openxmlformats.org/drawingml/2006/main">
              <a:ext uri="{FF2B5EF4-FFF2-40B4-BE49-F238E27FC236}">
                <a16:creationId xmlns:a16="http://schemas.microsoft.com/office/drawing/2014/main" id="{F2662AE1-8951-4A71-9880-9E5A37CAAD5F}"/>
              </a:ext>
            </a:extLst>
          </p:cNvPr>
          <p:cNvSpPr>
            <a:spLocks xmlns:a="http://schemas.openxmlformats.org/drawingml/2006/main" noGrp="1"/>
          </p:cNvSpPr>
          <p:nvPr/>
        </p:nvSpPr>
        <p:spPr>
          <a:xfrm xmlns:a="http://schemas.openxmlformats.org/drawingml/2006/main">
            <a:off x="685800" y="19812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Creation and normalization, duplicate handling, update/delete behavior, and preservation of upstream error statuses.</a:t>
            </a:r>
          </a:p>
        </p:txBody>
      </p:sp>
      <p:sp>
        <p:nvSpPr>
          <p:cNvPr id="4" name="">
            <a:extLst xmlns:a="http://schemas.openxmlformats.org/drawingml/2006/main">
              <a:ext uri="{FF2B5EF4-FFF2-40B4-BE49-F238E27FC236}">
                <a16:creationId xmlns:a16="http://schemas.microsoft.com/office/drawing/2014/main" id="{B309F21A-05A5-47D7-A4E6-78508A4FCE4F}"/>
              </a:ext>
            </a:extLst>
          </p:cNvPr>
          <p:cNvSpPr>
            <a:spLocks xmlns:a="http://schemas.openxmlformats.org/drawingml/2006/main" noGrp="1"/>
          </p:cNvSpPr>
          <p:nvPr/>
        </p:nvSpPr>
        <p:spPr>
          <a:xfrm xmlns:a="http://schemas.openxmlformats.org/drawingml/2006/main">
            <a:off x="685800" y="2686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SOAP parsing, 7 tests</a:t>
            </a:r>
          </a:p>
        </p:txBody>
      </p:sp>
      <p:sp>
        <p:nvSpPr>
          <p:cNvPr id="5" name="">
            <a:extLst xmlns:a="http://schemas.openxmlformats.org/drawingml/2006/main">
              <a:ext uri="{FF2B5EF4-FFF2-40B4-BE49-F238E27FC236}">
                <a16:creationId xmlns:a16="http://schemas.microsoft.com/office/drawing/2014/main" id="{C8E2C07F-92DA-4760-9BFC-31655EA334FF}"/>
              </a:ext>
            </a:extLst>
          </p:cNvPr>
          <p:cNvSpPr>
            <a:spLocks xmlns:a="http://schemas.openxmlformats.org/drawingml/2006/main" noGrp="1"/>
          </p:cNvSpPr>
          <p:nvPr/>
        </p:nvSpPr>
        <p:spPr>
          <a:xfrm xmlns:a="http://schemas.openxmlformats.org/drawingml/2006/main">
            <a:off x="685800" y="30480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Namespaces and full details, unknown country, SOAP faults, malformed XML, DOCTYPE rejection, and XML escaping.</a:t>
            </a:r>
          </a:p>
        </p:txBody>
      </p:sp>
      <p:sp>
        <p:nvSpPr>
          <p:cNvPr id="6" name="">
            <a:extLst xmlns:a="http://schemas.openxmlformats.org/drawingml/2006/main">
              <a:ext uri="{FF2B5EF4-FFF2-40B4-BE49-F238E27FC236}">
                <a16:creationId xmlns:a16="http://schemas.microsoft.com/office/drawing/2014/main" id="{3BB638E7-22B4-4FFB-8E89-553D10F88A80}"/>
              </a:ext>
            </a:extLst>
          </p:cNvPr>
          <p:cNvSpPr>
            <a:spLocks xmlns:a="http://schemas.openxmlformats.org/drawingml/2006/main" noGrp="1"/>
          </p:cNvSpPr>
          <p:nvPr/>
        </p:nvSpPr>
        <p:spPr>
          <a:xfrm xmlns:a="http://schemas.openxmlformats.org/drawingml/2006/main">
            <a:off x="685800" y="37528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REST and transport, 9 tests</a:t>
            </a:r>
          </a:p>
        </p:txBody>
      </p:sp>
      <p:sp>
        <p:nvSpPr>
          <p:cNvPr id="7" name="">
            <a:extLst xmlns:a="http://schemas.openxmlformats.org/drawingml/2006/main">
              <a:ext uri="{FF2B5EF4-FFF2-40B4-BE49-F238E27FC236}">
                <a16:creationId xmlns:a16="http://schemas.microsoft.com/office/drawing/2014/main" id="{D0FC4145-96F6-486E-8825-C3A0A76C06AB}"/>
              </a:ext>
            </a:extLst>
          </p:cNvPr>
          <p:cNvSpPr>
            <a:spLocks xmlns:a="http://schemas.openxmlformats.org/drawingml/2006/main" noGrp="1"/>
          </p:cNvSpPr>
          <p:nvPr/>
        </p:nvSpPr>
        <p:spPr>
          <a:xfrm xmlns:a="http://schemas.openxmlformats.org/drawingml/2006/main">
            <a:off x="685800" y="41148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6 controller tests cover responses and validation. 3 transport tests verify retries, non-retryable errors, and circuit opening.</a:t>
            </a:r>
          </a:p>
        </p:txBody>
      </p:sp>
      <p:sp>
        <p:nvSpPr>
          <p:cNvPr id="8" name="">
            <a:extLst xmlns:a="http://schemas.openxmlformats.org/drawingml/2006/main">
              <a:ext uri="{FF2B5EF4-FFF2-40B4-BE49-F238E27FC236}">
                <a16:creationId xmlns:a16="http://schemas.microsoft.com/office/drawing/2014/main" id="{9ECE5C3A-0F2B-43C7-889C-745A623CD4EA}"/>
              </a:ext>
            </a:extLst>
          </p:cNvPr>
          <p:cNvSpPr>
            <a:spLocks xmlns:a="http://schemas.openxmlformats.org/drawingml/2006/main" noGrp="1"/>
          </p:cNvSpPr>
          <p:nvPr/>
        </p:nvSpPr>
        <p:spPr>
          <a:xfrm xmlns:a="http://schemas.openxmlformats.org/drawingml/2006/main">
            <a:off x="685800" y="48196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Application context, 1 test</a:t>
            </a:r>
          </a:p>
        </p:txBody>
      </p:sp>
      <p:sp>
        <p:nvSpPr>
          <p:cNvPr id="9" name="">
            <a:extLst xmlns:a="http://schemas.openxmlformats.org/drawingml/2006/main">
              <a:ext uri="{FF2B5EF4-FFF2-40B4-BE49-F238E27FC236}">
                <a16:creationId xmlns:a16="http://schemas.microsoft.com/office/drawing/2014/main" id="{9EA35994-DE3C-4781-9332-FDDEA85E9298}"/>
              </a:ext>
            </a:extLst>
          </p:cNvPr>
          <p:cNvSpPr>
            <a:spLocks xmlns:a="http://schemas.openxmlformats.org/drawingml/2006/main" noGrp="1"/>
          </p:cNvSpPr>
          <p:nvPr/>
        </p:nvSpPr>
        <p:spPr>
          <a:xfrm xmlns:a="http://schemas.openxmlformats.org/drawingml/2006/main">
            <a:off x="685800" y="51816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The full Maven package run connected Spring Boot to MySQL. Result: 27 tests, 0 failures, 0 errors, 0 skipped.</a:t>
            </a:r>
          </a:p>
        </p:txBody>
      </p:sp>
      <p:sp>
        <p:nvSpPr>
          <p:cNvPr id="10" name="">
            <a:extLst xmlns:a="http://schemas.openxmlformats.org/drawingml/2006/main">
              <a:ext uri="{FF2B5EF4-FFF2-40B4-BE49-F238E27FC236}">
                <a16:creationId xmlns:a16="http://schemas.microsoft.com/office/drawing/2014/main" id="{575A7013-4EBD-4018-A6D2-179D9BF71C0C}"/>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11" name="">
            <a:extLst xmlns:a="http://schemas.openxmlformats.org/drawingml/2006/main">
              <a:ext uri="{FF2B5EF4-FFF2-40B4-BE49-F238E27FC236}">
                <a16:creationId xmlns:a16="http://schemas.microsoft.com/office/drawing/2014/main" id="{72BD7C77-6550-4261-8A19-95FE96BC8EC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07</a:t>
            </a:r>
          </a:p>
        </p:txBody>
      </p:sp>
    </p:spTree>
    <p:extLst>
      <p:ext uri="{BB962C8B-B14F-4D97-AF65-F5344CB8AC3E}">
        <p14:creationId xmlns:p14="http://schemas.microsoft.com/office/powerpoint/2010/main" val="1741062740"/>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FC807B-5F1F-43FA-ACEE-9D1F98E450E6}"/>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Container and Kubernetes deployment</a:t>
            </a:r>
          </a:p>
        </p:txBody>
      </p:sp>
      <p:sp>
        <p:nvSpPr>
          <p:cNvPr id="2" name="">
            <a:extLst xmlns:a="http://schemas.openxmlformats.org/drawingml/2006/main">
              <a:ext uri="{FF2B5EF4-FFF2-40B4-BE49-F238E27FC236}">
                <a16:creationId xmlns:a16="http://schemas.microsoft.com/office/drawing/2014/main" id="{263E6CFD-C973-412F-BAA2-AA5291D5B9EC}"/>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Docker Compose</a:t>
            </a:r>
          </a:p>
        </p:txBody>
      </p:sp>
      <p:sp>
        <p:nvSpPr>
          <p:cNvPr id="3" name="">
            <a:extLst xmlns:a="http://schemas.openxmlformats.org/drawingml/2006/main">
              <a:ext uri="{FF2B5EF4-FFF2-40B4-BE49-F238E27FC236}">
                <a16:creationId xmlns:a16="http://schemas.microsoft.com/office/drawing/2014/main" id="{35D162E1-7142-4167-A911-9BB478FFAE4D}"/>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Java 25 runtime image runs as a non-root user. Application connects to mysql:3306. The MySQL named volume preserves data.</a:t>
            </a:r>
          </a:p>
        </p:txBody>
      </p:sp>
      <p:sp>
        <p:nvSpPr>
          <p:cNvPr id="4" name="">
            <a:extLst xmlns:a="http://schemas.openxmlformats.org/drawingml/2006/main">
              <a:ext uri="{FF2B5EF4-FFF2-40B4-BE49-F238E27FC236}">
                <a16:creationId xmlns:a16="http://schemas.microsoft.com/office/drawing/2014/main" id="{F1348DCC-8B28-4E99-BDF1-C5543EB2FAEE}"/>
              </a:ext>
            </a:extLst>
          </p:cNvPr>
          <p:cNvSpPr>
            <a:spLocks xmlns:a="http://schemas.openxmlformats.org/drawingml/2006/main" noGrp="1"/>
          </p:cNvSpPr>
          <p:nvPr/>
        </p:nvSpPr>
        <p:spPr>
          <a:xfrm xmlns:a="http://schemas.openxmlformats.org/drawingml/2006/main">
            <a:off x="685800" y="3000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Kubernetes resources</a:t>
            </a:r>
          </a:p>
        </p:txBody>
      </p:sp>
      <p:sp>
        <p:nvSpPr>
          <p:cNvPr id="5" name="">
            <a:extLst xmlns:a="http://schemas.openxmlformats.org/drawingml/2006/main">
              <a:ext uri="{FF2B5EF4-FFF2-40B4-BE49-F238E27FC236}">
                <a16:creationId xmlns:a16="http://schemas.microsoft.com/office/drawing/2014/main" id="{C4CECB89-D090-467D-B1CB-645D0B8339C0}"/>
              </a:ext>
            </a:extLst>
          </p:cNvPr>
          <p:cNvSpPr>
            <a:spLocks xmlns:a="http://schemas.openxmlformats.org/drawingml/2006/main" noGrp="1"/>
          </p:cNvSpPr>
          <p:nvPr/>
        </p:nvSpPr>
        <p:spPr>
          <a:xfrm xmlns:a="http://schemas.openxmlformats.org/drawingml/2006/main">
            <a:off x="685800" y="336232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ConfigMap, credential Secret, application Deployment and Service. MySQL uses one Deployment and a 2 GiB storage claim.</a:t>
            </a:r>
          </a:p>
        </p:txBody>
      </p:sp>
      <p:sp>
        <p:nvSpPr>
          <p:cNvPr id="6" name="">
            <a:extLst xmlns:a="http://schemas.openxmlformats.org/drawingml/2006/main">
              <a:ext uri="{FF2B5EF4-FFF2-40B4-BE49-F238E27FC236}">
                <a16:creationId xmlns:a16="http://schemas.microsoft.com/office/drawing/2014/main" id="{513E5746-4E51-4B7E-93A9-EA649BB4A924}"/>
              </a:ext>
            </a:extLst>
          </p:cNvPr>
          <p:cNvSpPr>
            <a:spLocks xmlns:a="http://schemas.openxmlformats.org/drawingml/2006/main" noGrp="1"/>
          </p:cNvSpPr>
          <p:nvPr/>
        </p:nvSpPr>
        <p:spPr>
          <a:xfrm xmlns:a="http://schemas.openxmlformats.org/drawingml/2006/main">
            <a:off x="685800" y="4381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Deployment verification</a:t>
            </a:r>
          </a:p>
        </p:txBody>
      </p:sp>
      <p:sp>
        <p:nvSpPr>
          <p:cNvPr id="7" name="">
            <a:extLst xmlns:a="http://schemas.openxmlformats.org/drawingml/2006/main">
              <a:ext uri="{FF2B5EF4-FFF2-40B4-BE49-F238E27FC236}">
                <a16:creationId xmlns:a16="http://schemas.microsoft.com/office/drawing/2014/main" id="{2A70AA4D-FAD8-4615-9152-A87EA107784F}"/>
              </a:ext>
            </a:extLst>
          </p:cNvPr>
          <p:cNvSpPr>
            <a:spLocks xmlns:a="http://schemas.openxmlformats.org/drawingml/2006/main" noGrp="1"/>
          </p:cNvSpPr>
          <p:nvPr/>
        </p:nvSpPr>
        <p:spPr>
          <a:xfrm xmlns:a="http://schemas.openxmlformats.org/drawingml/2006/main">
            <a:off x="685800" y="47434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Initial checks passed: two ready app pods, Bound storage and 200 UP health endpoints. Later probe timeouts caused restarts; sustained availability remains unverified.</a:t>
            </a:r>
          </a:p>
        </p:txBody>
      </p:sp>
      <p:sp>
        <p:nvSpPr>
          <p:cNvPr id="8" name="">
            <a:extLst xmlns:a="http://schemas.openxmlformats.org/drawingml/2006/main">
              <a:ext uri="{FF2B5EF4-FFF2-40B4-BE49-F238E27FC236}">
                <a16:creationId xmlns:a16="http://schemas.microsoft.com/office/drawing/2014/main" id="{972E8D67-AC56-4AC8-909D-4A9501BE109B}"/>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9" name="">
            <a:extLst xmlns:a="http://schemas.openxmlformats.org/drawingml/2006/main">
              <a:ext uri="{FF2B5EF4-FFF2-40B4-BE49-F238E27FC236}">
                <a16:creationId xmlns:a16="http://schemas.microsoft.com/office/drawing/2014/main" id="{CEB93209-D7EA-49EB-A837-3B36BAEC8A0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08</a:t>
            </a:r>
          </a:p>
        </p:txBody>
      </p:sp>
    </p:spTree>
    <p:extLst>
      <p:ext uri="{BB962C8B-B14F-4D97-AF65-F5344CB8AC3E}">
        <p14:creationId xmlns:p14="http://schemas.microsoft.com/office/powerpoint/2010/main" val="108884964"/>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350870-0A57-42C0-A58D-1543EA294BEE}"/>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Shared data across two replicas</a:t>
            </a:r>
          </a:p>
        </p:txBody>
      </p:sp>
      <p:sp>
        <p:nvSpPr>
          <p:cNvPr id="2" name="">
            <a:extLst xmlns:a="http://schemas.openxmlformats.org/drawingml/2006/main">
              <a:ext uri="{FF2B5EF4-FFF2-40B4-BE49-F238E27FC236}">
                <a16:creationId xmlns:a16="http://schemas.microsoft.com/office/drawing/2014/main" id="{FF251D14-58CD-4BD1-98A6-E46F631350D9}"/>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Write through replica one</a:t>
            </a:r>
          </a:p>
        </p:txBody>
      </p:sp>
      <p:sp>
        <p:nvSpPr>
          <p:cNvPr id="3" name="">
            <a:extLst xmlns:a="http://schemas.openxmlformats.org/drawingml/2006/main">
              <a:ext uri="{FF2B5EF4-FFF2-40B4-BE49-F238E27FC236}">
                <a16:creationId xmlns:a16="http://schemas.microsoft.com/office/drawing/2014/main" id="{54D108F0-B3FA-4966-95B0-00F1B116E35E}"/>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POST Tanzania returned 201 Created and Location /api/countries/2. MySQL persisted the country and language.</a:t>
            </a:r>
          </a:p>
        </p:txBody>
      </p:sp>
      <p:sp>
        <p:nvSpPr>
          <p:cNvPr id="4" name="">
            <a:extLst xmlns:a="http://schemas.openxmlformats.org/drawingml/2006/main">
              <a:ext uri="{FF2B5EF4-FFF2-40B4-BE49-F238E27FC236}">
                <a16:creationId xmlns:a16="http://schemas.microsoft.com/office/drawing/2014/main" id="{25957245-DE80-4984-85AA-A3A0F82919AB}"/>
              </a:ext>
            </a:extLst>
          </p:cNvPr>
          <p:cNvSpPr>
            <a:spLocks xmlns:a="http://schemas.openxmlformats.org/drawingml/2006/main" noGrp="1"/>
          </p:cNvSpPr>
          <p:nvPr/>
        </p:nvSpPr>
        <p:spPr>
          <a:xfrm xmlns:a="http://schemas.openxmlformats.org/drawingml/2006/main">
            <a:off x="685800" y="30003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Read through replica two</a:t>
            </a:r>
          </a:p>
        </p:txBody>
      </p:sp>
      <p:sp>
        <p:nvSpPr>
          <p:cNvPr id="5" name="">
            <a:extLst xmlns:a="http://schemas.openxmlformats.org/drawingml/2006/main">
              <a:ext uri="{FF2B5EF4-FFF2-40B4-BE49-F238E27FC236}">
                <a16:creationId xmlns:a16="http://schemas.microsoft.com/office/drawing/2014/main" id="{4F2BD121-8181-4996-BE91-F41A5413B4FF}"/>
              </a:ext>
            </a:extLst>
          </p:cNvPr>
          <p:cNvSpPr>
            <a:spLocks xmlns:a="http://schemas.openxmlformats.org/drawingml/2006/main" noGrp="1"/>
          </p:cNvSpPr>
          <p:nvPr/>
        </p:nvSpPr>
        <p:spPr>
          <a:xfrm xmlns:a="http://schemas.openxmlformats.org/drawingml/2006/main">
            <a:off x="685800" y="3362325"/>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GET countries returned 200 and included Kenya and Tanzania, confirming shared persistence between application replicas.</a:t>
            </a:r>
          </a:p>
        </p:txBody>
      </p:sp>
      <p:sp>
        <p:nvSpPr>
          <p:cNvPr id="6" name="">
            <a:extLst xmlns:a="http://schemas.openxmlformats.org/drawingml/2006/main">
              <a:ext uri="{FF2B5EF4-FFF2-40B4-BE49-F238E27FC236}">
                <a16:creationId xmlns:a16="http://schemas.microsoft.com/office/drawing/2014/main" id="{566C6BFB-579B-4FF3-A471-DB48E3D59636}"/>
              </a:ext>
            </a:extLst>
          </p:cNvPr>
          <p:cNvSpPr>
            <a:spLocks xmlns:a="http://schemas.openxmlformats.org/drawingml/2006/main" noGrp="1"/>
          </p:cNvSpPr>
          <p:nvPr/>
        </p:nvSpPr>
        <p:spPr>
          <a:xfrm xmlns:a="http://schemas.openxmlformats.org/drawingml/2006/main">
            <a:off x="685800" y="4381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Scale boundary</a:t>
            </a:r>
          </a:p>
        </p:txBody>
      </p:sp>
      <p:sp>
        <p:nvSpPr>
          <p:cNvPr id="7" name="">
            <a:extLst xmlns:a="http://schemas.openxmlformats.org/drawingml/2006/main">
              <a:ext uri="{FF2B5EF4-FFF2-40B4-BE49-F238E27FC236}">
                <a16:creationId xmlns:a16="http://schemas.microsoft.com/office/drawing/2014/main" id="{685BE3EC-DEE9-489E-9F69-496E591ADBE6}"/>
              </a:ext>
            </a:extLst>
          </p:cNvPr>
          <p:cNvSpPr>
            <a:spLocks xmlns:a="http://schemas.openxmlformats.org/drawingml/2006/main" noGrp="1"/>
          </p:cNvSpPr>
          <p:nvPr/>
        </p:nvSpPr>
        <p:spPr>
          <a:xfrm xmlns:a="http://schemas.openxmlformats.org/drawingml/2006/main">
            <a:off x="685800" y="47434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During the successful test, the Service had two ready backends. Both replicas ran on one local node; multi-node availability was not demonstrated.</a:t>
            </a:r>
          </a:p>
        </p:txBody>
      </p:sp>
      <p:sp>
        <p:nvSpPr>
          <p:cNvPr id="8" name="">
            <a:extLst xmlns:a="http://schemas.openxmlformats.org/drawingml/2006/main">
              <a:ext uri="{FF2B5EF4-FFF2-40B4-BE49-F238E27FC236}">
                <a16:creationId xmlns:a16="http://schemas.microsoft.com/office/drawing/2014/main" id="{30DAAF57-0A52-4B34-A04A-A26D5B309F81}"/>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9" name="">
            <a:extLst xmlns:a="http://schemas.openxmlformats.org/drawingml/2006/main">
              <a:ext uri="{FF2B5EF4-FFF2-40B4-BE49-F238E27FC236}">
                <a16:creationId xmlns:a16="http://schemas.microsoft.com/office/drawing/2014/main" id="{72B3F729-5B64-4C88-A3A1-974A47D01999}"/>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09</a:t>
            </a:r>
          </a:p>
        </p:txBody>
      </p:sp>
    </p:spTree>
    <p:extLst>
      <p:ext uri="{BB962C8B-B14F-4D97-AF65-F5344CB8AC3E}">
        <p14:creationId xmlns:p14="http://schemas.microsoft.com/office/powerpoint/2010/main" val="1305587288"/>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B76E2E-0D86-4E80-BB30-8F783A15F5F2}"/>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Design decisions and production work</a:t>
            </a:r>
          </a:p>
        </p:txBody>
      </p:sp>
      <p:sp>
        <p:nvSpPr>
          <p:cNvPr id="2" name="">
            <a:extLst xmlns:a="http://schemas.openxmlformats.org/drawingml/2006/main">
              <a:ext uri="{FF2B5EF4-FFF2-40B4-BE49-F238E27FC236}">
                <a16:creationId xmlns:a16="http://schemas.microsoft.com/office/drawing/2014/main" id="{6642AAC7-9C41-4FDA-BBEE-06EBDCC8351C}"/>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MySQL and stateless replicas</a:t>
            </a:r>
          </a:p>
        </p:txBody>
      </p:sp>
      <p:sp>
        <p:nvSpPr>
          <p:cNvPr id="3" name="">
            <a:extLst xmlns:a="http://schemas.openxmlformats.org/drawingml/2006/main">
              <a:ext uri="{FF2B5EF4-FFF2-40B4-BE49-F238E27FC236}">
                <a16:creationId xmlns:a16="http://schemas.microsoft.com/office/drawing/2014/main" id="{425FBF75-7FA2-48AF-B146-22BAFCF963F8}"/>
              </a:ext>
            </a:extLst>
          </p:cNvPr>
          <p:cNvSpPr>
            <a:spLocks xmlns:a="http://schemas.openxmlformats.org/drawingml/2006/main" noGrp="1"/>
          </p:cNvSpPr>
          <p:nvPr/>
        </p:nvSpPr>
        <p:spPr>
          <a:xfrm xmlns:a="http://schemas.openxmlformats.org/drawingml/2006/main">
            <a:off x="685800" y="19812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Shared durable storage keeps countries consistent across application instances. A single database simplifies this assessment deployment.</a:t>
            </a:r>
          </a:p>
        </p:txBody>
      </p:sp>
      <p:sp>
        <p:nvSpPr>
          <p:cNvPr id="4" name="">
            <a:extLst xmlns:a="http://schemas.openxmlformats.org/drawingml/2006/main">
              <a:ext uri="{FF2B5EF4-FFF2-40B4-BE49-F238E27FC236}">
                <a16:creationId xmlns:a16="http://schemas.microsoft.com/office/drawing/2014/main" id="{1CDB6E6D-6852-40C0-BEFB-170B5C62FA0E}"/>
              </a:ext>
            </a:extLst>
          </p:cNvPr>
          <p:cNvSpPr>
            <a:spLocks xmlns:a="http://schemas.openxmlformats.org/drawingml/2006/main" noGrp="1"/>
          </p:cNvSpPr>
          <p:nvPr/>
        </p:nvSpPr>
        <p:spPr>
          <a:xfrm xmlns:a="http://schemas.openxmlformats.org/drawingml/2006/main">
            <a:off x="685800" y="2686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Synchronous country creation</a:t>
            </a:r>
          </a:p>
        </p:txBody>
      </p:sp>
      <p:sp>
        <p:nvSpPr>
          <p:cNvPr id="5" name="">
            <a:extLst xmlns:a="http://schemas.openxmlformats.org/drawingml/2006/main">
              <a:ext uri="{FF2B5EF4-FFF2-40B4-BE49-F238E27FC236}">
                <a16:creationId xmlns:a16="http://schemas.microsoft.com/office/drawing/2014/main" id="{6EFA98A1-08C4-4340-8A73-622DC3DBBF8A}"/>
              </a:ext>
            </a:extLst>
          </p:cNvPr>
          <p:cNvSpPr>
            <a:spLocks xmlns:a="http://schemas.openxmlformats.org/drawingml/2006/main" noGrp="1"/>
          </p:cNvSpPr>
          <p:nvPr/>
        </p:nvSpPr>
        <p:spPr>
          <a:xfrm xmlns:a="http://schemas.openxmlformats.org/drawingml/2006/main">
            <a:off x="685800" y="30480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Direct SOAP calls return details immediately. Retries and timeouts bound failure handling. Queues would suit a future bulk import workflow.</a:t>
            </a:r>
          </a:p>
        </p:txBody>
      </p:sp>
      <p:sp>
        <p:nvSpPr>
          <p:cNvPr id="6" name="">
            <a:extLst xmlns:a="http://schemas.openxmlformats.org/drawingml/2006/main">
              <a:ext uri="{FF2B5EF4-FFF2-40B4-BE49-F238E27FC236}">
                <a16:creationId xmlns:a16="http://schemas.microsoft.com/office/drawing/2014/main" id="{98D50EB8-00E0-45FF-82DB-A5DE04E0F48C}"/>
              </a:ext>
            </a:extLst>
          </p:cNvPr>
          <p:cNvSpPr>
            <a:spLocks xmlns:a="http://schemas.openxmlformats.org/drawingml/2006/main" noGrp="1"/>
          </p:cNvSpPr>
          <p:nvPr/>
        </p:nvSpPr>
        <p:spPr>
          <a:xfrm xmlns:a="http://schemas.openxmlformats.org/drawingml/2006/main">
            <a:off x="685800" y="37528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High-load direction</a:t>
            </a:r>
          </a:p>
        </p:txBody>
      </p:sp>
      <p:sp>
        <p:nvSpPr>
          <p:cNvPr id="7" name="">
            <a:extLst xmlns:a="http://schemas.openxmlformats.org/drawingml/2006/main">
              <a:ext uri="{FF2B5EF4-FFF2-40B4-BE49-F238E27FC236}">
                <a16:creationId xmlns:a16="http://schemas.microsoft.com/office/drawing/2014/main" id="{5E06FA74-088E-4FE4-BE08-AB14CA72E849}"/>
              </a:ext>
            </a:extLst>
          </p:cNvPr>
          <p:cNvSpPr>
            <a:spLocks xmlns:a="http://schemas.openxmlformats.org/drawingml/2006/main" noGrp="1"/>
          </p:cNvSpPr>
          <p:nvPr/>
        </p:nvSpPr>
        <p:spPr>
          <a:xfrm xmlns:a="http://schemas.openxmlformats.org/drawingml/2006/main">
            <a:off x="685800" y="41148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Measure load before tuning replicas and database pools. Add paging and cache frequently read country data with explicit expiry and invalidation.</a:t>
            </a:r>
          </a:p>
        </p:txBody>
      </p:sp>
      <p:sp>
        <p:nvSpPr>
          <p:cNvPr id="8" name="">
            <a:extLst xmlns:a="http://schemas.openxmlformats.org/drawingml/2006/main">
              <a:ext uri="{FF2B5EF4-FFF2-40B4-BE49-F238E27FC236}">
                <a16:creationId xmlns:a16="http://schemas.microsoft.com/office/drawing/2014/main" id="{79D6DCB1-15C5-4D8E-A1CA-62D076DE2DDD}"/>
              </a:ext>
            </a:extLst>
          </p:cNvPr>
          <p:cNvSpPr>
            <a:spLocks xmlns:a="http://schemas.openxmlformats.org/drawingml/2006/main" noGrp="1"/>
          </p:cNvSpPr>
          <p:nvPr/>
        </p:nvSpPr>
        <p:spPr>
          <a:xfrm xmlns:a="http://schemas.openxmlformats.org/drawingml/2006/main">
            <a:off x="685800" y="48196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Production improvements</a:t>
            </a:r>
          </a:p>
        </p:txBody>
      </p:sp>
      <p:sp>
        <p:nvSpPr>
          <p:cNvPr id="9" name="">
            <a:extLst xmlns:a="http://schemas.openxmlformats.org/drawingml/2006/main">
              <a:ext uri="{FF2B5EF4-FFF2-40B4-BE49-F238E27FC236}">
                <a16:creationId xmlns:a16="http://schemas.microsoft.com/office/drawing/2014/main" id="{76F45451-7C86-48FF-8C60-D9B212B41088}"/>
              </a:ext>
            </a:extLst>
          </p:cNvPr>
          <p:cNvSpPr>
            <a:spLocks xmlns:a="http://schemas.openxmlformats.org/drawingml/2006/main" noGrp="1"/>
          </p:cNvSpPr>
          <p:nvPr/>
        </p:nvSpPr>
        <p:spPr>
          <a:xfrm xmlns:a="http://schemas.openxmlformats.org/drawingml/2006/main">
            <a:off x="685800" y="51816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Versioned migrations, isolated persistence tests, TLS and access controls, database failover, backups, and monitored capacity remain future work.</a:t>
            </a:r>
          </a:p>
        </p:txBody>
      </p:sp>
      <p:sp>
        <p:nvSpPr>
          <p:cNvPr id="10" name="">
            <a:extLst xmlns:a="http://schemas.openxmlformats.org/drawingml/2006/main">
              <a:ext uri="{FF2B5EF4-FFF2-40B4-BE49-F238E27FC236}">
                <a16:creationId xmlns:a16="http://schemas.microsoft.com/office/drawing/2014/main" id="{1FA29EE8-7C36-412F-B8AC-737029878BF7}"/>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11" name="">
            <a:extLst xmlns:a="http://schemas.openxmlformats.org/drawingml/2006/main">
              <a:ext uri="{FF2B5EF4-FFF2-40B4-BE49-F238E27FC236}">
                <a16:creationId xmlns:a16="http://schemas.microsoft.com/office/drawing/2014/main" id="{B2C547CE-90C9-45CB-B362-423D64C07003}"/>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10</a:t>
            </a:r>
          </a:p>
        </p:txBody>
      </p:sp>
    </p:spTree>
    <p:extLst>
      <p:ext uri="{BB962C8B-B14F-4D97-AF65-F5344CB8AC3E}">
        <p14:creationId xmlns:p14="http://schemas.microsoft.com/office/powerpoint/2010/main" val="1646744914"/>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EB004B-8771-4C45-AAEA-BA242A76E048}"/>
              </a:ext>
            </a:extLst>
          </p:cNvPr>
          <p:cNvSpPr>
            <a:spLocks xmlns:a="http://schemas.openxmlformats.org/drawingml/2006/main" noGrp="1"/>
          </p:cNvSpPr>
          <p:nvPr/>
        </p:nvSpPr>
        <p:spPr>
          <a:xfrm xmlns:a="http://schemas.openxmlformats.org/drawingml/2006/main">
            <a:off x="685800" y="5143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B"/>
                </a:solidFill>
                <a:latin typeface="DejaVu Sans"/>
                <a:ea typeface="DejaVu Sans"/>
                <a:cs typeface="DejaVu Sans"/>
              </a:defRPr>
            </a:defPPr>
          </a:lstStyle>
          <a:p xmlns:a="http://schemas.openxmlformats.org/drawingml/2006/main">
            <a:pPr>
              <a:buNone/>
              <a:defRPr sz="3300" b="1">
                <a:solidFill>
                  <a:srgbClr val="12334B"/>
                </a:solidFill>
                <a:latin typeface="DejaVu Sans"/>
                <a:ea typeface="DejaVu Sans"/>
                <a:cs typeface="DejaVu Sans"/>
              </a:defRPr>
            </a:pPr>
            <a:r>
              <a:rPr sz="3300" b="1">
                <a:solidFill>
                  <a:srgbClr val="12334B"/>
                </a:solidFill>
                <a:latin typeface="DejaVu Sans"/>
                <a:ea typeface="DejaVu Sans"/>
                <a:cs typeface="DejaVu Sans"/>
              </a:rPr>
              <a:t>Run and troubleshoot</a:t>
            </a:r>
          </a:p>
        </p:txBody>
      </p:sp>
      <p:sp>
        <p:nvSpPr>
          <p:cNvPr id="2" name="">
            <a:extLst xmlns:a="http://schemas.openxmlformats.org/drawingml/2006/main">
              <a:ext uri="{FF2B5EF4-FFF2-40B4-BE49-F238E27FC236}">
                <a16:creationId xmlns:a16="http://schemas.microsoft.com/office/drawing/2014/main" id="{EBA49ED1-69E6-481A-A992-E05D692323B3}"/>
              </a:ext>
            </a:extLst>
          </p:cNvPr>
          <p:cNvSpPr>
            <a:spLocks xmlns:a="http://schemas.openxmlformats.org/drawingml/2006/main" noGrp="1"/>
          </p:cNvSpPr>
          <p:nvPr/>
        </p:nvSpPr>
        <p:spPr>
          <a:xfrm xmlns:a="http://schemas.openxmlformats.org/drawingml/2006/main">
            <a:off x="685800" y="16192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Build and run</a:t>
            </a:r>
          </a:p>
        </p:txBody>
      </p:sp>
      <p:sp>
        <p:nvSpPr>
          <p:cNvPr id="3" name="">
            <a:extLst xmlns:a="http://schemas.openxmlformats.org/drawingml/2006/main">
              <a:ext uri="{FF2B5EF4-FFF2-40B4-BE49-F238E27FC236}">
                <a16:creationId xmlns:a16="http://schemas.microsoft.com/office/drawing/2014/main" id="{768D96E9-FB24-4E68-8A17-6869E4F33CE6}"/>
              </a:ext>
            </a:extLst>
          </p:cNvPr>
          <p:cNvSpPr>
            <a:spLocks xmlns:a="http://schemas.openxmlformats.org/drawingml/2006/main" noGrp="1"/>
          </p:cNvSpPr>
          <p:nvPr/>
        </p:nvSpPr>
        <p:spPr>
          <a:xfrm xmlns:a="http://schemas.openxmlformats.org/drawingml/2006/main">
            <a:off x="685800" y="19812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Start MySQL, export DB_PASSWORD, run ./mvnw clean package, then docker compose up -d --build. Local API: localhost:8081.</a:t>
            </a:r>
          </a:p>
        </p:txBody>
      </p:sp>
      <p:sp>
        <p:nvSpPr>
          <p:cNvPr id="4" name="">
            <a:extLst xmlns:a="http://schemas.openxmlformats.org/drawingml/2006/main">
              <a:ext uri="{FF2B5EF4-FFF2-40B4-BE49-F238E27FC236}">
                <a16:creationId xmlns:a16="http://schemas.microsoft.com/office/drawing/2014/main" id="{0F5C9D42-AEC0-4807-838F-ACC8152E7EB0}"/>
              </a:ext>
            </a:extLst>
          </p:cNvPr>
          <p:cNvSpPr>
            <a:spLocks xmlns:a="http://schemas.openxmlformats.org/drawingml/2006/main" noGrp="1"/>
          </p:cNvSpPr>
          <p:nvPr/>
        </p:nvSpPr>
        <p:spPr>
          <a:xfrm xmlns:a="http://schemas.openxmlformats.org/drawingml/2006/main">
            <a:off x="685800" y="2686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Deploy to Kubernetes</a:t>
            </a:r>
          </a:p>
        </p:txBody>
      </p:sp>
      <p:sp>
        <p:nvSpPr>
          <p:cNvPr id="5" name="">
            <a:extLst xmlns:a="http://schemas.openxmlformats.org/drawingml/2006/main">
              <a:ext uri="{FF2B5EF4-FFF2-40B4-BE49-F238E27FC236}">
                <a16:creationId xmlns:a16="http://schemas.microsoft.com/office/drawing/2014/main" id="{C7371AE4-2B20-4C96-900D-0725B1B23A2D}"/>
              </a:ext>
            </a:extLst>
          </p:cNvPr>
          <p:cNvSpPr>
            <a:spLocks xmlns:a="http://schemas.openxmlformats.org/drawingml/2006/main" noGrp="1"/>
          </p:cNvSpPr>
          <p:nvPr/>
        </p:nvSpPr>
        <p:spPr>
          <a:xfrm xmlns:a="http://schemas.openxmlformats.org/drawingml/2006/main">
            <a:off x="685800" y="30480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Create namespace and Secret, apply MySQL and app manifests, inspect rollout and PVC, then port-forward the Service to localhost:8082.</a:t>
            </a:r>
          </a:p>
        </p:txBody>
      </p:sp>
      <p:sp>
        <p:nvSpPr>
          <p:cNvPr id="6" name="">
            <a:extLst xmlns:a="http://schemas.openxmlformats.org/drawingml/2006/main">
              <a:ext uri="{FF2B5EF4-FFF2-40B4-BE49-F238E27FC236}">
                <a16:creationId xmlns:a16="http://schemas.microsoft.com/office/drawing/2014/main" id="{930E95FD-7684-4E30-AA38-00ED54DEC64A}"/>
              </a:ext>
            </a:extLst>
          </p:cNvPr>
          <p:cNvSpPr>
            <a:spLocks xmlns:a="http://schemas.openxmlformats.org/drawingml/2006/main" noGrp="1"/>
          </p:cNvSpPr>
          <p:nvPr/>
        </p:nvSpPr>
        <p:spPr>
          <a:xfrm xmlns:a="http://schemas.openxmlformats.org/drawingml/2006/main">
            <a:off x="685800" y="37528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Troubleshooting guide</a:t>
            </a:r>
          </a:p>
        </p:txBody>
      </p:sp>
      <p:sp>
        <p:nvSpPr>
          <p:cNvPr id="7" name="">
            <a:extLst xmlns:a="http://schemas.openxmlformats.org/drawingml/2006/main">
              <a:ext uri="{FF2B5EF4-FFF2-40B4-BE49-F238E27FC236}">
                <a16:creationId xmlns:a16="http://schemas.microsoft.com/office/drawing/2014/main" id="{E580A9DB-0EA2-44C9-B9F1-17DEAAEA9CE4}"/>
              </a:ext>
            </a:extLst>
          </p:cNvPr>
          <p:cNvSpPr>
            <a:spLocks xmlns:a="http://schemas.openxmlformats.org/drawingml/2006/main" noGrp="1"/>
          </p:cNvSpPr>
          <p:nvPr/>
        </p:nvSpPr>
        <p:spPr>
          <a:xfrm xmlns:a="http://schemas.openxmlformats.org/drawingml/2006/main">
            <a:off x="685800" y="41148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Inspect logs and pod events. Check image availability, ports, credentials, storage binding, readiness, and resource limits.</a:t>
            </a:r>
          </a:p>
        </p:txBody>
      </p:sp>
      <p:sp>
        <p:nvSpPr>
          <p:cNvPr id="8" name="">
            <a:extLst xmlns:a="http://schemas.openxmlformats.org/drawingml/2006/main">
              <a:ext uri="{FF2B5EF4-FFF2-40B4-BE49-F238E27FC236}">
                <a16:creationId xmlns:a16="http://schemas.microsoft.com/office/drawing/2014/main" id="{4583279C-9A8B-44B7-BA50-B77DA44F1FE2}"/>
              </a:ext>
            </a:extLst>
          </p:cNvPr>
          <p:cNvSpPr>
            <a:spLocks xmlns:a="http://schemas.openxmlformats.org/drawingml/2006/main" noGrp="1"/>
          </p:cNvSpPr>
          <p:nvPr/>
        </p:nvSpPr>
        <p:spPr>
          <a:xfrm xmlns:a="http://schemas.openxmlformats.org/drawingml/2006/main">
            <a:off x="685800" y="48196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F82"/>
                </a:solidFill>
                <a:latin typeface="DejaVu Sans"/>
                <a:ea typeface="DejaVu Sans"/>
                <a:cs typeface="DejaVu Sans"/>
              </a:defRPr>
            </a:defPPr>
          </a:lstStyle>
          <a:p xmlns:a="http://schemas.openxmlformats.org/drawingml/2006/main">
            <a:pPr>
              <a:buNone/>
              <a:defRPr sz="1725" b="1">
                <a:solidFill>
                  <a:srgbClr val="007F82"/>
                </a:solidFill>
                <a:latin typeface="DejaVu Sans"/>
                <a:ea typeface="DejaVu Sans"/>
                <a:cs typeface="DejaVu Sans"/>
              </a:defRPr>
            </a:pPr>
            <a:r>
              <a:rPr sz="1725" b="1">
                <a:solidFill>
                  <a:srgbClr val="007F82"/>
                </a:solidFill>
                <a:latin typeface="DejaVu Sans"/>
                <a:ea typeface="DejaVu Sans"/>
                <a:cs typeface="DejaVu Sans"/>
              </a:rPr>
              <a:t>Submission contents</a:t>
            </a:r>
          </a:p>
        </p:txBody>
      </p:sp>
      <p:sp>
        <p:nvSpPr>
          <p:cNvPr id="9" name="">
            <a:extLst xmlns:a="http://schemas.openxmlformats.org/drawingml/2006/main">
              <a:ext uri="{FF2B5EF4-FFF2-40B4-BE49-F238E27FC236}">
                <a16:creationId xmlns:a16="http://schemas.microsoft.com/office/drawing/2014/main" id="{70490C87-98F1-48F4-B0B1-68787DCF94FD}"/>
              </a:ext>
            </a:extLst>
          </p:cNvPr>
          <p:cNvSpPr>
            <a:spLocks xmlns:a="http://schemas.openxmlformats.org/drawingml/2006/main" noGrp="1"/>
          </p:cNvSpPr>
          <p:nvPr/>
        </p:nvSpPr>
        <p:spPr>
          <a:xfrm xmlns:a="http://schemas.openxmlformats.org/drawingml/2006/main">
            <a:off x="685800" y="51816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B"/>
                </a:solidFill>
                <a:latin typeface="DejaVu Sans"/>
                <a:ea typeface="DejaVu Sans"/>
                <a:cs typeface="DejaVu Sans"/>
              </a:defRPr>
            </a:defPPr>
          </a:lstStyle>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https://github.com/kimtour/country-integration-service</a:t>
            </a:r>
          </a:p>
          <a:p xmlns:a="http://schemas.openxmlformats.org/drawingml/2006/main">
            <a:pPr>
              <a:buNone/>
              <a:defRPr sz="2025" b="0">
                <a:solidFill>
                  <a:srgbClr val="16324B"/>
                </a:solidFill>
                <a:latin typeface="DejaVu Sans"/>
                <a:ea typeface="DejaVu Sans"/>
                <a:cs typeface="DejaVu Sans"/>
              </a:defRPr>
            </a:pPr>
            <a:r>
              <a:rPr sz="2025" b="0">
                <a:solidFill>
                  <a:srgbClr val="16324B"/>
                </a:solidFill>
                <a:latin typeface="DejaVu Sans"/>
                <a:ea typeface="DejaVu Sans"/>
                <a:cs typeface="DejaVu Sans"/>
              </a:rPr>
              <a:t>Source, tests, README and deployment guide included.</a:t>
            </a:r>
          </a:p>
        </p:txBody>
      </p:sp>
      <p:sp>
        <p:nvSpPr>
          <p:cNvPr id="10" name="">
            <a:extLst xmlns:a="http://schemas.openxmlformats.org/drawingml/2006/main">
              <a:ext uri="{FF2B5EF4-FFF2-40B4-BE49-F238E27FC236}">
                <a16:creationId xmlns:a16="http://schemas.microsoft.com/office/drawing/2014/main" id="{10718CB6-A8DC-4147-A5C5-B7020CB11CEC}"/>
              </a:ext>
            </a:extLst>
          </p:cNvPr>
          <p:cNvSpPr>
            <a:spLocks xmlns:a="http://schemas.openxmlformats.org/drawingml/2006/main" noGrp="1"/>
          </p:cNvSpPr>
          <p:nvPr/>
        </p:nvSpPr>
        <p:spPr>
          <a:xfrm xmlns:a="http://schemas.openxmlformats.org/drawingml/2006/main">
            <a:off x="685800" y="63341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Samuel Mutua Kimani, 8 October 2026</a:t>
            </a:r>
          </a:p>
        </p:txBody>
      </p:sp>
      <p:sp>
        <p:nvSpPr>
          <p:cNvPr id="11" name="">
            <a:extLst xmlns:a="http://schemas.openxmlformats.org/drawingml/2006/main">
              <a:ext uri="{FF2B5EF4-FFF2-40B4-BE49-F238E27FC236}">
                <a16:creationId xmlns:a16="http://schemas.microsoft.com/office/drawing/2014/main" id="{5F852AF7-27C4-4868-9341-6860040B9AA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9"/>
                </a:solidFill>
                <a:latin typeface="DejaVu Sans"/>
                <a:ea typeface="DejaVu Sans"/>
                <a:cs typeface="DejaVu Sans"/>
              </a:defRPr>
            </a:defPPr>
          </a:lstStyle>
          <a:p xmlns:a="http://schemas.openxmlformats.org/drawingml/2006/main">
            <a:pPr>
              <a:buNone/>
              <a:defRPr sz="1125" b="0">
                <a:solidFill>
                  <a:srgbClr val="526679"/>
                </a:solidFill>
                <a:latin typeface="DejaVu Sans"/>
                <a:ea typeface="DejaVu Sans"/>
                <a:cs typeface="DejaVu Sans"/>
              </a:defRPr>
            </a:pPr>
            <a:r>
              <a:rPr sz="1125" b="0">
                <a:solidFill>
                  <a:srgbClr val="526679"/>
                </a:solidFill>
                <a:latin typeface="DejaVu Sans"/>
                <a:ea typeface="DejaVu Sans"/>
                <a:cs typeface="DejaVu Sans"/>
              </a:rPr>
              <a:t>11</a:t>
            </a:r>
          </a:p>
        </p:txBody>
      </p:sp>
    </p:spTree>
    <p:extLst>
      <p:ext uri="{BB962C8B-B14F-4D97-AF65-F5344CB8AC3E}">
        <p14:creationId xmlns:p14="http://schemas.microsoft.com/office/powerpoint/2010/main" val="11127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2026-10-08T17:28:46.0050000Z</dcterms:created>
  <dcterms:modified xsi:type="dcterms:W3CDTF">2026-10-08T17:28:46.0050000Z</dcterms:modified>
</coreProperties>
</file>