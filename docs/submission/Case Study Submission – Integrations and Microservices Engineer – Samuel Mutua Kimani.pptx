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6b85bdb0fab4fa0" /><Relationship Type="http://schemas.openxmlformats.org/officeDocument/2006/relationships/extended-properties" Target="/docProps/app.xml" Id="R1ba2d3f749f749cb" /><Relationship Type="http://schemas.openxmlformats.org/officeDocument/2006/relationships/officeDocument" Target="/ppt/presentation.xml" Id="Ra1ad838d29814cb9" /></Relationships>
</file>

<file path=ppt/presentation.xml><?xml version="1.0" encoding="utf-8"?>
<p:presentation xmlns:p="http://schemas.openxmlformats.org/presentationml/2006/main">
  <p:sldMasterIdLst>
    <p:sldMasterId xmlns:r="http://schemas.openxmlformats.org/officeDocument/2006/relationships" id="2147483648" r:id="R764c0c91d08f4b03"/>
  </p:sldMasterIdLst>
  <p:notesMasterIdLst>
    <p:notesMasterId xmlns:r="http://schemas.openxmlformats.org/officeDocument/2006/relationships" r:id="Rad0798a3d3fb4cfa"/>
  </p:notesMasterIdLst>
  <p:sldIdLst>
    <p:sldId xmlns:r="http://schemas.openxmlformats.org/officeDocument/2006/relationships" id="256" r:id="R2d310a8f3f704fe1"/>
    <p:sldId xmlns:r="http://schemas.openxmlformats.org/officeDocument/2006/relationships" id="257" r:id="R38903ae6ca1d4824"/>
    <p:sldId xmlns:r="http://schemas.openxmlformats.org/officeDocument/2006/relationships" id="258" r:id="Rd4055626269a4951"/>
    <p:sldId xmlns:r="http://schemas.openxmlformats.org/officeDocument/2006/relationships" id="259" r:id="R0348c136a02f4f26"/>
    <p:sldId xmlns:r="http://schemas.openxmlformats.org/officeDocument/2006/relationships" id="260" r:id="R74222447bfb54143"/>
    <p:sldId xmlns:r="http://schemas.openxmlformats.org/officeDocument/2006/relationships" id="261" r:id="R7c4ea505ac664d59"/>
    <p:sldId xmlns:r="http://schemas.openxmlformats.org/officeDocument/2006/relationships" id="262" r:id="R2eb67e7d544f4b46"/>
    <p:sldId xmlns:r="http://schemas.openxmlformats.org/officeDocument/2006/relationships" id="263" r:id="R3fb514216dca44d3"/>
    <p:sldId xmlns:r="http://schemas.openxmlformats.org/officeDocument/2006/relationships" id="264" r:id="R3aca59358f29464b"/>
    <p:sldId xmlns:r="http://schemas.openxmlformats.org/officeDocument/2006/relationships" id="265" r:id="R8e2e99365efc45c5"/>
    <p:sldId xmlns:r="http://schemas.openxmlformats.org/officeDocument/2006/relationships" id="266" r:id="R9649d26a674943e6"/>
    <p:sldId xmlns:r="http://schemas.openxmlformats.org/officeDocument/2006/relationships" id="267" r:id="Rbf9e3e7fb5e24384"/>
    <p:sldId xmlns:r="http://schemas.openxmlformats.org/officeDocument/2006/relationships" id="268" r:id="R226fd32b2be847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bd454bbd5054760" /><Relationship Type="http://schemas.openxmlformats.org/officeDocument/2006/relationships/slideMaster" Target="/ppt/slideMasters/slideMaster1.xml" Id="R764c0c91d08f4b03" /><Relationship Type="http://schemas.openxmlformats.org/officeDocument/2006/relationships/notesMaster" Target="/ppt/notesMasters/notesMaster1.xml" Id="Rad0798a3d3fb4cfa" /><Relationship Type="http://schemas.openxmlformats.org/officeDocument/2006/relationships/presProps" Target="/ppt/presProps.xml" Id="R6938ba98dc1c4f3c" /><Relationship Type="http://schemas.openxmlformats.org/officeDocument/2006/relationships/tableStyles" Target="/ppt/tableStyles.xml" Id="Rac623367ffef408c" /><Relationship Type="http://schemas.openxmlformats.org/officeDocument/2006/relationships/slide" Target="/ppt/slides/slide1.xml" Id="R2d310a8f3f704fe1" /><Relationship Type="http://schemas.openxmlformats.org/officeDocument/2006/relationships/slide" Target="/ppt/slides/slide2.xml" Id="R38903ae6ca1d4824" /><Relationship Type="http://schemas.openxmlformats.org/officeDocument/2006/relationships/slide" Target="/ppt/slides/slide3.xml" Id="Rd4055626269a4951" /><Relationship Type="http://schemas.openxmlformats.org/officeDocument/2006/relationships/slide" Target="/ppt/slides/slide4.xml" Id="R0348c136a02f4f26" /><Relationship Type="http://schemas.openxmlformats.org/officeDocument/2006/relationships/slide" Target="/ppt/slides/slide5.xml" Id="R74222447bfb54143" /><Relationship Type="http://schemas.openxmlformats.org/officeDocument/2006/relationships/slide" Target="/ppt/slides/slide6.xml" Id="R7c4ea505ac664d59" /><Relationship Type="http://schemas.openxmlformats.org/officeDocument/2006/relationships/slide" Target="/ppt/slides/slide7.xml" Id="R2eb67e7d544f4b46" /><Relationship Type="http://schemas.openxmlformats.org/officeDocument/2006/relationships/slide" Target="/ppt/slides/slide8.xml" Id="R3fb514216dca44d3" /><Relationship Type="http://schemas.openxmlformats.org/officeDocument/2006/relationships/slide" Target="/ppt/slides/slide9.xml" Id="R3aca59358f29464b" /><Relationship Type="http://schemas.openxmlformats.org/officeDocument/2006/relationships/slide" Target="/ppt/slides/slide10.xml" Id="R8e2e99365efc45c5" /><Relationship Type="http://schemas.openxmlformats.org/officeDocument/2006/relationships/slide" Target="/ppt/slides/slide11.xml" Id="R9649d26a674943e6" /><Relationship Type="http://schemas.openxmlformats.org/officeDocument/2006/relationships/slide" Target="/ppt/slides/slide12.xml" Id="Rbf9e3e7fb5e24384" /><Relationship Type="http://schemas.openxmlformats.org/officeDocument/2006/relationships/slide" Target="/ppt/slides/slide13.xml" Id="R226fd32b2be847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148296f5da4a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d0644d1ca144fa" /><Relationship Type="http://schemas.openxmlformats.org/officeDocument/2006/relationships/notesMaster" Target="/ppt/notesMasters/notesMaster1.xml" Id="Rc184df5b5ca242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cd34e993fc4587" /><Relationship Type="http://schemas.openxmlformats.org/officeDocument/2006/relationships/notesMaster" Target="/ppt/notesMasters/notesMaster1.xml" Id="Rb8ca488388b34c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893efb823e4189" /><Relationship Type="http://schemas.openxmlformats.org/officeDocument/2006/relationships/notesMaster" Target="/ppt/notesMasters/notesMaster1.xml" Id="R6591eac62a4044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eb660208ae47b1" /><Relationship Type="http://schemas.openxmlformats.org/officeDocument/2006/relationships/notesMaster" Target="/ppt/notesMasters/notesMaster1.xml" Id="R4310626c70714c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2745dcd648431d" /><Relationship Type="http://schemas.openxmlformats.org/officeDocument/2006/relationships/notesMaster" Target="/ppt/notesMasters/notesMaster1.xml" Id="Rabd25062db9143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5b2d2fa7c8412a" /><Relationship Type="http://schemas.openxmlformats.org/officeDocument/2006/relationships/notesMaster" Target="/ppt/notesMasters/notesMaster1.xml" Id="Refebd967e53248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b0f1711be84bb8" /><Relationship Type="http://schemas.openxmlformats.org/officeDocument/2006/relationships/notesMaster" Target="/ppt/notesMasters/notesMaster1.xml" Id="R0037ab35bce640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7aa75756604daa" /><Relationship Type="http://schemas.openxmlformats.org/officeDocument/2006/relationships/notesMaster" Target="/ppt/notesMasters/notesMaster1.xml" Id="Re912d977e19645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336246b6724c05" /><Relationship Type="http://schemas.openxmlformats.org/officeDocument/2006/relationships/notesMaster" Target="/ppt/notesMasters/notesMaster1.xml" Id="Reba2f97e06604b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fe3dc6c9514073" /><Relationship Type="http://schemas.openxmlformats.org/officeDocument/2006/relationships/notesMaster" Target="/ppt/notesMasters/notesMaster1.xml" Id="Reca0396cd8034c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af8732bd634349" /><Relationship Type="http://schemas.openxmlformats.org/officeDocument/2006/relationships/notesMaster" Target="/ppt/notesMasters/notesMaster1.xml" Id="R1d852b4c8fc044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392f5053584566" /><Relationship Type="http://schemas.openxmlformats.org/officeDocument/2006/relationships/notesMaster" Target="/ppt/notesMasters/notesMaster1.xml" Id="R8515eaf1d6cd46a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c06a5b1a58b440f" /><Relationship Type="http://schemas.openxmlformats.org/officeDocument/2006/relationships/notesMaster" Target="/ppt/notesMasters/notesMaster1.xml" Id="Re97a8f8cbefc45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Assessment source: Integration Microservices Engineer-2(1).pdf. This presentation describes the implemented solution and verified local results. Repository link accompanies the submission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test/deployment outputs supplied by the candidate in this project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 are normalized to sentence case as requested. Live provider checks showed South africa is not recognized, whereas South Africa returns ZA. For unknown multi-word names only, the service tries a title-case provider lookup. Connection failures and timeouts are not treated as a name-format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test/deployment outputs supplied by the candidate in this project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implemented transport configuration and service/controller tests. The breaker wraps retry and counts logical transport calls. SOAP faults and XML parsing errors occur outside the transport breaker. Circuit state is per application process. Cached SOAP fallback is a future enhancement.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request logging, http.server.requests metric output, and Kubernetes health/readiness/liveness responses. Prometheus-format export is configured. A Prometheus scraper, dashboards, and distributed tracing have not been demonstrated.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docs/TEST_RESULTS.md, Maven Surefire/Failsafe reports and .github/workflows/ci.yaml. Command: ./mvnw -Pmysql-it clean verify. Default tests require neither credentials nor external MySQL/SOAP. MySQL tests use Testcontainers and their own temporary MySQL 8.4 database. H2 complements MySQL verification. The concurrent create test forces two successful pre-checks before saving and asserts one 201 and one 409, with one persisted country. Hosted CI status is separate from local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prior five-minute recovery observation passed 88 health/data requests across two replicas with zero restarts. On 9 October a fresh build exposed reuse of the old image under a fixed local tag; deployment now derives its tag from Docker build inputs. Docker Desktop has about 4 GB assigned and the duplicate Compose workload was stopped while verifying Kubernetes. This preserves its database volume. Local capacity, long-term availability and production throughput remain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cross-replica test on 8 October 2026. Separate pod port-forwards used localhost:8083 and localhost:8084. Service port-forward selects one pod per session and does not demonstrate load balancing. This verifies shared persistence, not throughput or multi-node availability.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verified local scope. Hibernate ddl-auto=update is currently used. Initialize a fresh schema with one application replica before scaling. External SOAP URL currently uses HTTP. HPA, cache, queue, authentication, production failover and load testing have not been implemented or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README.md and docs/DEPLOYMENT.md. Full context tests require local MySQL. Dockerfile requires the packaged JAR. Use new image tags for application changes. The submitted repository link is provided in the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CountryController, CountryService, CountrySoapClient, CountryRepository and k8s/app.yaml. A Service port-forward selects one pod for the lifetime of the session. Shared database data is separately verified via direct pod forwards.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docs/soapui/country-info-soapui-project.xml, docs/soapui/soapui-import.png and docs/soapui/README.md. The screenshot was captured from the installed app on 9 October; the existing app workspace originated on 8 October. The repository project was freshly imported using the installed SoapUI libraries on 9 October and run with the installed SoapUI testrunner. External checks require provider availability and outbound HTTP.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c88d02167f45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3ac22c5fde74b7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79698e137c042f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1f54d1ea7ea48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2287b5c6f644a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449440f33948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9A1FC5-DCAC-4CE5-9FEA-63E21D6256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74B1BC8-FD2E-4552-8EFB-FC6BAC76E8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C6B530-F4A8-4853-A8CE-43531EE07DD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5711F5-8AE0-4B79-A492-2464E28A3E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2299AEC-05A2-4604-A538-2841D33C86F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63497E-8F0B-4C16-9008-180BFCECE6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2E28C4-E5DA-4154-A68F-5E2DE596AB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BEEFE4-30C6-4DF2-AEB7-920ED2B805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5E24CE-7C8E-4C55-8AF8-AD3B14528B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1BB714-2298-493D-8C2F-F146D8B0F2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43dc309f784e77" /><Relationship Type="http://schemas.openxmlformats.org/officeDocument/2006/relationships/slideLayout" Target="/ppt/slideLayouts/slideLayout1.xml" Id="R5925c7aefc074565" /><Relationship Type="http://schemas.openxmlformats.org/officeDocument/2006/relationships/slideLayout" Target="/ppt/slideLayouts/slideLayout2.xml" Id="Rc60cfe17f50842ee" /><Relationship Type="http://schemas.openxmlformats.org/officeDocument/2006/relationships/slideLayout" Target="/ppt/slideLayouts/slideLayout3.xml" Id="R8c9f6eff91644600" /><Relationship Type="http://schemas.openxmlformats.org/officeDocument/2006/relationships/slideLayout" Target="/ppt/slideLayouts/slideLayout4.xml" Id="R4caa66ec1b9f4644" /><Relationship Type="http://schemas.openxmlformats.org/officeDocument/2006/relationships/slideLayout" Target="/ppt/slideLayouts/slideLayout5.xml" Id="R6b7416f4e12843f3" /><Relationship Type="http://schemas.openxmlformats.org/officeDocument/2006/relationships/slideLayout" Target="/ppt/slideLayouts/slideLayout6.xml" Id="R1e7837bed70d4c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25c7aefc074565"/>
    <p:sldLayoutId xmlns:r="http://schemas.openxmlformats.org/officeDocument/2006/relationships" id="2147483650" r:id="Rc60cfe17f50842ee"/>
    <p:sldLayoutId xmlns:r="http://schemas.openxmlformats.org/officeDocument/2006/relationships" id="2147483651" r:id="R8c9f6eff91644600"/>
    <p:sldLayoutId xmlns:r="http://schemas.openxmlformats.org/officeDocument/2006/relationships" id="2147483652" r:id="R4caa66ec1b9f4644"/>
    <p:sldLayoutId xmlns:r="http://schemas.openxmlformats.org/officeDocument/2006/relationships" id="2147483653" r:id="R6b7416f4e12843f3"/>
    <p:sldLayoutId xmlns:r="http://schemas.openxmlformats.org/officeDocument/2006/relationships" id="2147483654" r:id="R1e7837bed70d4c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5a60698218c46c7" /><Relationship Type="http://schemas.openxmlformats.org/officeDocument/2006/relationships/notesSlide" Target="/ppt/notesSlides/notesSlide1.xml" Id="Ra313b213de7549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45da94fb85d4204" /><Relationship Type="http://schemas.openxmlformats.org/officeDocument/2006/relationships/notesSlide" Target="/ppt/notesSlides/notesSlide2.xml" Id="R89d342bfe31946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4b828038a0d4b0b" /><Relationship Type="http://schemas.openxmlformats.org/officeDocument/2006/relationships/notesSlide" Target="/ppt/notesSlides/notesSlide3.xml" Id="R7c8325881c644d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908bfa16841473b" /><Relationship Type="http://schemas.openxmlformats.org/officeDocument/2006/relationships/notesSlide" Target="/ppt/notesSlides/notesSlide4.xml" Id="Rc32bfdff49c144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258abd552774847" /><Relationship Type="http://schemas.openxmlformats.org/officeDocument/2006/relationships/notesSlide" Target="/ppt/notesSlides/notesSlide5.xml" Id="Rb12dce2d273d42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b9e52b261a44752" /><Relationship Type="http://schemas.openxmlformats.org/officeDocument/2006/relationships/notesSlide" Target="/ppt/notesSlides/notesSlide6.xml" Id="R1b335d63625840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7174c7e163450e" /><Relationship Type="http://schemas.openxmlformats.org/officeDocument/2006/relationships/notesSlide" Target="/ppt/notesSlides/notesSlide7.xml" Id="Rd649896f52c34cb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78dd9bd3384b83" /><Relationship Type="http://schemas.openxmlformats.org/officeDocument/2006/relationships/notesSlide" Target="/ppt/notesSlides/notesSlide8.xml" Id="R3255f85ac877419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b9418cba354171" /><Relationship Type="http://schemas.openxmlformats.org/officeDocument/2006/relationships/notesSlide" Target="/ppt/notesSlides/notesSlide9.xml" Id="R6134b0e720f146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040e97cbc6744d1" /><Relationship Type="http://schemas.openxmlformats.org/officeDocument/2006/relationships/notesSlide" Target="/ppt/notesSlides/notesSlide10.xml" Id="Rac457a551ebe4a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bfad90707294ddf" /><Relationship Type="http://schemas.openxmlformats.org/officeDocument/2006/relationships/notesSlide" Target="/ppt/notesSlides/notesSlide11.xml" Id="R6de6945b2e5945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b19b9c0f96f4a11" /><Relationship Type="http://schemas.openxmlformats.org/officeDocument/2006/relationships/notesSlide" Target="/ppt/notesSlides/notesSlide12.xml" Id="Rbcaf36763a2f4d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81756bbd4f14379" /><Relationship Type="http://schemas.openxmlformats.org/officeDocument/2006/relationships/image" Target="/ppt/media/image.png" Id="R713e791dc5314737" /><Relationship Type="http://schemas.openxmlformats.org/officeDocument/2006/relationships/notesSlide" Target="/ppt/notesSlides/notesSlide13.xml" Id="R8eededa9b5344967" /></Relationships>
</file>

<file path=ppt/slides/slide1.xml><?xml version="1.0" encoding="utf-8"?>
<p:sld xmlns:p="http://schemas.openxmlformats.org/presentationml/2006/main">
  <p:cSld>
    <p:bg>
      <p:bgPr>
        <a:solidFill xmlns:a="http://schemas.openxmlformats.org/drawingml/2006/main">
          <a:srgbClr val="12334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98EC151-2B88-49DB-A634-665FC70ED50E}"/>
              </a:ext>
            </a:extLst>
          </p:cNvPr>
          <p:cNvSpPr>
            <a:spLocks xmlns:a="http://schemas.openxmlformats.org/drawingml/2006/main" noGrp="1"/>
          </p:cNvSpPr>
          <p:nvPr/>
        </p:nvSpPr>
        <p:spPr>
          <a:xfrm xmlns:a="http://schemas.openxmlformats.org/drawingml/2006/main">
            <a:off x="685800" y="8763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79D2D1"/>
                </a:solidFill>
                <a:latin typeface="DejaVu Sans"/>
                <a:ea typeface="DejaVu Sans"/>
                <a:cs typeface="DejaVu Sans"/>
              </a:defRPr>
            </a:defPPr>
          </a:lstStyle>
          <a:p xmlns:a="http://schemas.openxmlformats.org/drawingml/2006/main">
            <a:pPr>
              <a:buNone/>
              <a:defRPr sz="1800" b="1">
                <a:solidFill>
                  <a:srgbClr val="79D2D1"/>
                </a:solidFill>
                <a:latin typeface="DejaVu Sans"/>
                <a:ea typeface="DejaVu Sans"/>
                <a:cs typeface="DejaVu Sans"/>
              </a:defRPr>
            </a:pPr>
            <a:r>
              <a:rPr sz="1800" b="1">
                <a:solidFill>
                  <a:srgbClr val="79D2D1"/>
                </a:solidFill>
                <a:latin typeface="DejaVu Sans"/>
                <a:ea typeface="DejaVu Sans"/>
                <a:cs typeface="DejaVu Sans"/>
              </a:rPr>
              <a:t>NCBA LOOP CASE STUDY</a:t>
            </a:r>
          </a:p>
        </p:txBody>
      </p:sp>
      <p:sp>
        <p:nvSpPr>
          <p:cNvPr id="2" name="">
            <a:extLst xmlns:a="http://schemas.openxmlformats.org/drawingml/2006/main">
              <a:ext uri="{FF2B5EF4-FFF2-40B4-BE49-F238E27FC236}">
                <a16:creationId xmlns:a16="http://schemas.microsoft.com/office/drawing/2014/main" id="{EBC070C0-32EB-4BA9-9BDF-BD438411D573}"/>
              </a:ext>
            </a:extLst>
          </p:cNvPr>
          <p:cNvSpPr>
            <a:spLocks xmlns:a="http://schemas.openxmlformats.org/drawingml/2006/main" noGrp="1"/>
          </p:cNvSpPr>
          <p:nvPr/>
        </p:nvSpPr>
        <p:spPr>
          <a:xfrm xmlns:a="http://schemas.openxmlformats.org/drawingml/2006/main">
            <a:off x="685800" y="2095500"/>
            <a:ext cx="10477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FFFF"/>
                </a:solidFill>
                <a:latin typeface="DejaVu Sans"/>
                <a:ea typeface="DejaVu Sans"/>
                <a:cs typeface="DejaVu Sans"/>
              </a:defRPr>
            </a:defPPr>
          </a:lstStyle>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Country Integration</a:t>
            </a:r>
          </a:p>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Service</a:t>
            </a:r>
          </a:p>
        </p:txBody>
      </p:sp>
      <p:sp>
        <p:nvSpPr>
          <p:cNvPr id="3" name="">
            <a:extLst xmlns:a="http://schemas.openxmlformats.org/drawingml/2006/main">
              <a:ext uri="{FF2B5EF4-FFF2-40B4-BE49-F238E27FC236}">
                <a16:creationId xmlns:a16="http://schemas.microsoft.com/office/drawing/2014/main" id="{AA707F8D-356C-4EC1-8D0C-4E1B1E0E25D8}"/>
              </a:ext>
            </a:extLst>
          </p:cNvPr>
          <p:cNvSpPr>
            <a:spLocks xmlns:a="http://schemas.openxmlformats.org/drawingml/2006/main" noGrp="1"/>
          </p:cNvSpPr>
          <p:nvPr/>
        </p:nvSpPr>
        <p:spPr>
          <a:xfrm xmlns:a="http://schemas.openxmlformats.org/drawingml/2006/main">
            <a:off x="685800" y="4333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DejaVu Sans"/>
                <a:ea typeface="DejaVu Sans"/>
                <a:cs typeface="DejaVu Sans"/>
              </a:defRPr>
            </a:defPPr>
          </a:lstStyle>
          <a:p xmlns:a="http://schemas.openxmlformats.org/drawingml/2006/main">
            <a:pPr>
              <a:buNone/>
              <a:defRPr sz="2325" b="0">
                <a:solidFill>
                  <a:srgbClr val="FFFFFF"/>
                </a:solidFill>
                <a:latin typeface="DejaVu Sans"/>
                <a:ea typeface="DejaVu Sans"/>
                <a:cs typeface="DejaVu Sans"/>
              </a:defRPr>
            </a:pPr>
            <a:r>
              <a:rPr sz="2325" b="0">
                <a:solidFill>
                  <a:srgbClr val="FFFFFF"/>
                </a:solidFill>
                <a:latin typeface="DejaVu Sans"/>
                <a:ea typeface="DejaVu Sans"/>
                <a:cs typeface="DejaVu Sans"/>
              </a:rPr>
              <a:t>Integrations and Microservices Engineer</a:t>
            </a:r>
          </a:p>
        </p:txBody>
      </p:sp>
      <p:sp>
        <p:nvSpPr>
          <p:cNvPr id="4" name="">
            <a:extLst xmlns:a="http://schemas.openxmlformats.org/drawingml/2006/main">
              <a:ext uri="{FF2B5EF4-FFF2-40B4-BE49-F238E27FC236}">
                <a16:creationId xmlns:a16="http://schemas.microsoft.com/office/drawing/2014/main" id="{E9281B45-3E48-4C15-8735-2A192BA0F07B}"/>
              </a:ext>
            </a:extLst>
          </p:cNvPr>
          <p:cNvSpPr>
            <a:spLocks xmlns:a="http://schemas.openxmlformats.org/drawingml/2006/main" noGrp="1"/>
          </p:cNvSpPr>
          <p:nvPr/>
        </p:nvSpPr>
        <p:spPr>
          <a:xfrm xmlns:a="http://schemas.openxmlformats.org/drawingml/2006/main">
            <a:off x="685800" y="54483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C8DCE5"/>
                </a:solidFill>
                <a:latin typeface="DejaVu Sans"/>
                <a:ea typeface="DejaVu Sans"/>
                <a:cs typeface="DejaVu Sans"/>
              </a:defRPr>
            </a:defPPr>
          </a:lstStyle>
          <a:p xmlns:a="http://schemas.openxmlformats.org/drawingml/2006/main">
            <a:pPr>
              <a:buNone/>
              <a:defRPr sz="1875" b="0">
                <a:solidFill>
                  <a:srgbClr val="C8DCE5"/>
                </a:solidFill>
                <a:latin typeface="DejaVu Sans"/>
                <a:ea typeface="DejaVu Sans"/>
                <a:cs typeface="DejaVu Sans"/>
              </a:defRPr>
            </a:pPr>
            <a:r>
              <a:rPr sz="1875" b="0">
                <a:solidFill>
                  <a:srgbClr val="C8DCE5"/>
                </a:solidFill>
                <a:latin typeface="DejaVu Sans"/>
                <a:ea typeface="DejaVu Sans"/>
                <a:cs typeface="DejaVu Sans"/>
              </a:rPr>
              <a:t>Samuel Mutua Kimani</a:t>
            </a:r>
          </a:p>
          <a:p xmlns:a="http://schemas.openxmlformats.org/drawingml/2006/main">
            <a:pPr>
              <a:buNone/>
              <a:defRPr sz="1875" b="0">
                <a:solidFill>
                  <a:srgbClr val="C8DCE5"/>
                </a:solidFill>
                <a:latin typeface="DejaVu Sans"/>
                <a:ea typeface="DejaVu Sans"/>
                <a:cs typeface="DejaVu Sans"/>
              </a:defRPr>
            </a:pPr>
            <a:r>
              <a:rPr sz="1875" b="0">
                <a:solidFill>
                  <a:srgbClr val="C8DCE5"/>
                </a:solidFill>
                <a:latin typeface="DejaVu Sans"/>
                <a:ea typeface="DejaVu Sans"/>
                <a:cs typeface="DejaVu Sans"/>
              </a:rPr>
              <a:t>9 October 2026</a:t>
            </a:r>
          </a:p>
        </p:txBody>
      </p:sp>
    </p:spTree>
    <p:extLst>
      <p:ext uri="{BB962C8B-B14F-4D97-AF65-F5344CB8AC3E}">
        <p14:creationId xmlns:p14="http://schemas.microsoft.com/office/powerpoint/2010/main" val="966986590"/>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02201D-4DFD-4CEA-B0B9-2A0213FBB854}"/>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Component responsibilities</a:t>
            </a:r>
          </a:p>
        </p:txBody>
      </p:sp>
      <p:sp>
        <p:nvSpPr>
          <p:cNvPr id="2" name="">
            <a:extLst xmlns:a="http://schemas.openxmlformats.org/drawingml/2006/main">
              <a:ext uri="{FF2B5EF4-FFF2-40B4-BE49-F238E27FC236}">
                <a16:creationId xmlns:a16="http://schemas.microsoft.com/office/drawing/2014/main" id="{30EF876C-E961-4784-B99E-B79679B1F1A8}"/>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REST boundary</a:t>
            </a:r>
          </a:p>
        </p:txBody>
      </p:sp>
      <p:sp>
        <p:nvSpPr>
          <p:cNvPr id="3" name="">
            <a:extLst xmlns:a="http://schemas.openxmlformats.org/drawingml/2006/main">
              <a:ext uri="{FF2B5EF4-FFF2-40B4-BE49-F238E27FC236}">
                <a16:creationId xmlns:a16="http://schemas.microsoft.com/office/drawing/2014/main" id="{2651628E-B002-4506-8AC9-238EEA854B4F}"/>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CountryController accepts JSON. Request DTOs validate fields. Exception advice returns clear HTTP errors.</a:t>
            </a:r>
          </a:p>
        </p:txBody>
      </p:sp>
      <p:sp>
        <p:nvSpPr>
          <p:cNvPr id="4" name="">
            <a:extLst xmlns:a="http://schemas.openxmlformats.org/drawingml/2006/main">
              <a:ext uri="{FF2B5EF4-FFF2-40B4-BE49-F238E27FC236}">
                <a16:creationId xmlns:a16="http://schemas.microsoft.com/office/drawing/2014/main" id="{2EBDB7DD-5854-4189-8C2F-287D433F28DA}"/>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Application logic</a:t>
            </a:r>
          </a:p>
        </p:txBody>
      </p:sp>
      <p:sp>
        <p:nvSpPr>
          <p:cNvPr id="5" name="">
            <a:extLst xmlns:a="http://schemas.openxmlformats.org/drawingml/2006/main">
              <a:ext uri="{FF2B5EF4-FFF2-40B4-BE49-F238E27FC236}">
                <a16:creationId xmlns:a16="http://schemas.microsoft.com/office/drawing/2014/main" id="{75963CB2-D374-453B-891F-4F243E0FF855}"/>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CountryService normalizes names, checks duplicates, and coordinates SOAP calls with persistence.</a:t>
            </a:r>
          </a:p>
        </p:txBody>
      </p:sp>
      <p:sp>
        <p:nvSpPr>
          <p:cNvPr id="6" name="">
            <a:extLst xmlns:a="http://schemas.openxmlformats.org/drawingml/2006/main">
              <a:ext uri="{FF2B5EF4-FFF2-40B4-BE49-F238E27FC236}">
                <a16:creationId xmlns:a16="http://schemas.microsoft.com/office/drawing/2014/main" id="{4730FDEE-E681-4B2A-B40F-23C56A987431}"/>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Integration and storage</a:t>
            </a:r>
          </a:p>
        </p:txBody>
      </p:sp>
      <p:sp>
        <p:nvSpPr>
          <p:cNvPr id="7" name="">
            <a:extLst xmlns:a="http://schemas.openxmlformats.org/drawingml/2006/main">
              <a:ext uri="{FF2B5EF4-FFF2-40B4-BE49-F238E27FC236}">
                <a16:creationId xmlns:a16="http://schemas.microsoft.com/office/drawing/2014/main" id="{16D5A0FD-ED0D-4A6E-AE1C-DCFD8BA38778}"/>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CountrySoapClient parses SOAP results. SoapTransport handles HTTP failures. JPA repositories access MySQL.</a:t>
            </a:r>
          </a:p>
        </p:txBody>
      </p:sp>
      <p:sp>
        <p:nvSpPr>
          <p:cNvPr id="8" name="">
            <a:extLst xmlns:a="http://schemas.openxmlformats.org/drawingml/2006/main">
              <a:ext uri="{FF2B5EF4-FFF2-40B4-BE49-F238E27FC236}">
                <a16:creationId xmlns:a16="http://schemas.microsoft.com/office/drawing/2014/main" id="{8F85598B-FF72-4AD3-983E-D229B1EDFFBF}"/>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AF6E45F8-3F6A-4F5A-A10D-ED51E0C58197}"/>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02</a:t>
            </a:r>
          </a:p>
        </p:txBody>
      </p:sp>
    </p:spTree>
    <p:extLst>
      <p:ext uri="{BB962C8B-B14F-4D97-AF65-F5344CB8AC3E}">
        <p14:creationId xmlns:p14="http://schemas.microsoft.com/office/powerpoint/2010/main" val="79076290"/>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5D6E48-508A-4C21-8945-F155977B7510}"/>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SOAP integration flow</a:t>
            </a:r>
          </a:p>
        </p:txBody>
      </p:sp>
      <p:sp>
        <p:nvSpPr>
          <p:cNvPr id="2" name="">
            <a:extLst xmlns:a="http://schemas.openxmlformats.org/drawingml/2006/main">
              <a:ext uri="{FF2B5EF4-FFF2-40B4-BE49-F238E27FC236}">
                <a16:creationId xmlns:a16="http://schemas.microsoft.com/office/drawing/2014/main" id="{3B78394D-A04D-4335-B11A-ADCC6B4AC766}"/>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1. Resolve the ISO code</a:t>
            </a:r>
          </a:p>
        </p:txBody>
      </p:sp>
      <p:sp>
        <p:nvSpPr>
          <p:cNvPr id="3" name="">
            <a:extLst xmlns:a="http://schemas.openxmlformats.org/drawingml/2006/main">
              <a:ext uri="{FF2B5EF4-FFF2-40B4-BE49-F238E27FC236}">
                <a16:creationId xmlns:a16="http://schemas.microsoft.com/office/drawing/2014/main" id="{04358F46-2BB7-4742-B9FD-2F19B545E71F}"/>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/api/countries accepts {"name":"kenya"}. The service converts the name to Kenya and calls CountryISOCode.</a:t>
            </a:r>
          </a:p>
        </p:txBody>
      </p:sp>
      <p:sp>
        <p:nvSpPr>
          <p:cNvPr id="4" name="">
            <a:extLst xmlns:a="http://schemas.openxmlformats.org/drawingml/2006/main">
              <a:ext uri="{FF2B5EF4-FFF2-40B4-BE49-F238E27FC236}">
                <a16:creationId xmlns:a16="http://schemas.microsoft.com/office/drawing/2014/main" id="{5D16B147-1188-40FD-B278-D9CBA5D3B0E2}"/>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2. Retrieve country details</a:t>
            </a:r>
          </a:p>
        </p:txBody>
      </p:sp>
      <p:sp>
        <p:nvSpPr>
          <p:cNvPr id="5" name="">
            <a:extLst xmlns:a="http://schemas.openxmlformats.org/drawingml/2006/main">
              <a:ext uri="{FF2B5EF4-FFF2-40B4-BE49-F238E27FC236}">
                <a16:creationId xmlns:a16="http://schemas.microsoft.com/office/drawing/2014/main" id="{63025EDF-9C79-45DB-B2F8-A85EAAE06D99}"/>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The returned KE code becomes the input to FullCountryInfo. Namespace-aware parsing maps country fields and languages.</a:t>
            </a:r>
          </a:p>
        </p:txBody>
      </p:sp>
      <p:sp>
        <p:nvSpPr>
          <p:cNvPr id="6" name="">
            <a:extLst xmlns:a="http://schemas.openxmlformats.org/drawingml/2006/main">
              <a:ext uri="{FF2B5EF4-FFF2-40B4-BE49-F238E27FC236}">
                <a16:creationId xmlns:a16="http://schemas.microsoft.com/office/drawing/2014/main" id="{471A6F30-93F4-4F77-B6BE-05844FB82311}"/>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3. Persist and respond</a:t>
            </a:r>
          </a:p>
        </p:txBody>
      </p:sp>
      <p:sp>
        <p:nvSpPr>
          <p:cNvPr id="7" name="">
            <a:extLst xmlns:a="http://schemas.openxmlformats.org/drawingml/2006/main">
              <a:ext uri="{FF2B5EF4-FFF2-40B4-BE49-F238E27FC236}">
                <a16:creationId xmlns:a16="http://schemas.microsoft.com/office/drawing/2014/main" id="{2806B52C-B754-432F-A6EB-F1A7C0CC83AD}"/>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MySQL stores the country and languages. The endpoint returns 201 Created with a generated ID and Location header.</a:t>
            </a:r>
          </a:p>
        </p:txBody>
      </p:sp>
      <p:sp>
        <p:nvSpPr>
          <p:cNvPr id="8" name="">
            <a:extLst xmlns:a="http://schemas.openxmlformats.org/drawingml/2006/main">
              <a:ext uri="{FF2B5EF4-FFF2-40B4-BE49-F238E27FC236}">
                <a16:creationId xmlns:a16="http://schemas.microsoft.com/office/drawing/2014/main" id="{3388EAEF-DC5B-451E-882F-98C6A3EF34F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80962931-B23F-47FD-81CA-90814FAD1034}"/>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03</a:t>
            </a:r>
          </a:p>
        </p:txBody>
      </p:sp>
    </p:spTree>
    <p:extLst>
      <p:ext uri="{BB962C8B-B14F-4D97-AF65-F5344CB8AC3E}">
        <p14:creationId xmlns:p14="http://schemas.microsoft.com/office/powerpoint/2010/main" val="811879194"/>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7F3993-A719-4F6D-9D85-E3FD6AF5F47E}"/>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Data model and REST operations</a:t>
            </a:r>
          </a:p>
        </p:txBody>
      </p:sp>
      <p:sp>
        <p:nvSpPr>
          <p:cNvPr id="2" name="">
            <a:extLst xmlns:a="http://schemas.openxmlformats.org/drawingml/2006/main">
              <a:ext uri="{FF2B5EF4-FFF2-40B4-BE49-F238E27FC236}">
                <a16:creationId xmlns:a16="http://schemas.microsoft.com/office/drawing/2014/main" id="{CAB3269E-E429-4D5D-A017-D60F3B8CE78E}"/>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CountryInfo and Language</a:t>
            </a:r>
          </a:p>
        </p:txBody>
      </p:sp>
      <p:sp>
        <p:nvSpPr>
          <p:cNvPr id="3" name="">
            <a:extLst xmlns:a="http://schemas.openxmlformats.org/drawingml/2006/main">
              <a:ext uri="{FF2B5EF4-FFF2-40B4-BE49-F238E27FC236}">
                <a16:creationId xmlns:a16="http://schemas.microsoft.com/office/drawing/2014/main" id="{18B89598-A7A8-4E54-B412-F4B1C6B0716D}"/>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CountryInfo stores ISO code, name, capital, phone, continent, currency, and flag URL. Language rows reference their country.</a:t>
            </a:r>
          </a:p>
        </p:txBody>
      </p:sp>
      <p:sp>
        <p:nvSpPr>
          <p:cNvPr id="4" name="">
            <a:extLst xmlns:a="http://schemas.openxmlformats.org/drawingml/2006/main">
              <a:ext uri="{FF2B5EF4-FFF2-40B4-BE49-F238E27FC236}">
                <a16:creationId xmlns:a16="http://schemas.microsoft.com/office/drawing/2014/main" id="{F139E942-9BD7-4206-AE34-81BCD4920F66}"/>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CRUD endpoints</a:t>
            </a:r>
          </a:p>
        </p:txBody>
      </p:sp>
      <p:sp>
        <p:nvSpPr>
          <p:cNvPr id="5" name="">
            <a:extLst xmlns:a="http://schemas.openxmlformats.org/drawingml/2006/main">
              <a:ext uri="{FF2B5EF4-FFF2-40B4-BE49-F238E27FC236}">
                <a16:creationId xmlns:a16="http://schemas.microsoft.com/office/drawing/2014/main" id="{97AABBCA-6F92-42B3-A5DD-79639450242B}"/>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creates. GET lists or retrieves by ID. PUT updates editable details and replaces languages. DELETE returns 204.</a:t>
            </a:r>
          </a:p>
        </p:txBody>
      </p:sp>
      <p:sp>
        <p:nvSpPr>
          <p:cNvPr id="6" name="">
            <a:extLst xmlns:a="http://schemas.openxmlformats.org/drawingml/2006/main">
              <a:ext uri="{FF2B5EF4-FFF2-40B4-BE49-F238E27FC236}">
                <a16:creationId xmlns:a16="http://schemas.microsoft.com/office/drawing/2014/main" id="{12DEB381-B0C4-4083-8FBF-DD04EBD40182}"/>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Consistency</a:t>
            </a:r>
          </a:p>
        </p:txBody>
      </p:sp>
      <p:sp>
        <p:nvSpPr>
          <p:cNvPr id="7" name="">
            <a:extLst xmlns:a="http://schemas.openxmlformats.org/drawingml/2006/main">
              <a:ext uri="{FF2B5EF4-FFF2-40B4-BE49-F238E27FC236}">
                <a16:creationId xmlns:a16="http://schemas.microsoft.com/office/drawing/2014/main" id="{C86D10D2-9821-46A5-B68E-54458240394D}"/>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Unique country ISO codes prevent duplicates. Update and delete use transactions. SOAP calls occur before the database save.</a:t>
            </a:r>
          </a:p>
        </p:txBody>
      </p:sp>
      <p:sp>
        <p:nvSpPr>
          <p:cNvPr id="8" name="">
            <a:extLst xmlns:a="http://schemas.openxmlformats.org/drawingml/2006/main">
              <a:ext uri="{FF2B5EF4-FFF2-40B4-BE49-F238E27FC236}">
                <a16:creationId xmlns:a16="http://schemas.microsoft.com/office/drawing/2014/main" id="{F228CF89-326A-45DE-B3F5-14A94C7339E3}"/>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7C6F1DF9-A488-4374-9AA6-6A840C100F43}"/>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04</a:t>
            </a:r>
          </a:p>
        </p:txBody>
      </p:sp>
    </p:spTree>
    <p:extLst>
      <p:ext uri="{BB962C8B-B14F-4D97-AF65-F5344CB8AC3E}">
        <p14:creationId xmlns:p14="http://schemas.microsoft.com/office/powerpoint/2010/main" val="1472602309"/>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41DC84F-AFE8-4146-93A9-EB127BB7A678}"/>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Failure handling</a:t>
            </a:r>
          </a:p>
        </p:txBody>
      </p:sp>
      <p:sp>
        <p:nvSpPr>
          <p:cNvPr id="2" name="">
            <a:extLst xmlns:a="http://schemas.openxmlformats.org/drawingml/2006/main">
              <a:ext uri="{FF2B5EF4-FFF2-40B4-BE49-F238E27FC236}">
                <a16:creationId xmlns:a16="http://schemas.microsoft.com/office/drawing/2014/main" id="{901D2308-1FDC-4C2A-84B6-66B531C8E5AB}"/>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Timeouts and retries</a:t>
            </a:r>
          </a:p>
        </p:txBody>
      </p:sp>
      <p:sp>
        <p:nvSpPr>
          <p:cNvPr id="3" name="">
            <a:extLst xmlns:a="http://schemas.openxmlformats.org/drawingml/2006/main">
              <a:ext uri="{FF2B5EF4-FFF2-40B4-BE49-F238E27FC236}">
                <a16:creationId xmlns:a16="http://schemas.microsoft.com/office/drawing/2014/main" id="{A89645F2-AB90-4103-B2EF-28354AACB4BE}"/>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HTTP connect timeout: 5 seconds. Request timeout: 8 seconds. Eligible failures receive up to 2 attempts, 300 ms apart.</a:t>
            </a:r>
          </a:p>
        </p:txBody>
      </p:sp>
      <p:sp>
        <p:nvSpPr>
          <p:cNvPr id="4" name="">
            <a:extLst xmlns:a="http://schemas.openxmlformats.org/drawingml/2006/main">
              <a:ext uri="{FF2B5EF4-FFF2-40B4-BE49-F238E27FC236}">
                <a16:creationId xmlns:a16="http://schemas.microsoft.com/office/drawing/2014/main" id="{4958C4E9-70A9-46DC-BE2A-766E92CCDA86}"/>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Circuit breaker</a:t>
            </a:r>
          </a:p>
        </p:txBody>
      </p:sp>
      <p:sp>
        <p:nvSpPr>
          <p:cNvPr id="5" name="">
            <a:extLst xmlns:a="http://schemas.openxmlformats.org/drawingml/2006/main">
              <a:ext uri="{FF2B5EF4-FFF2-40B4-BE49-F238E27FC236}">
                <a16:creationId xmlns:a16="http://schemas.microsoft.com/office/drawing/2014/main" id="{D6464C5E-4FFF-4A43-99B6-14DBC2483669}"/>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10-call window, minimum 5 calls, 50% failure threshold. Open duration: 30 seconds. Half-open permits 2 calls.</a:t>
            </a:r>
          </a:p>
        </p:txBody>
      </p:sp>
      <p:sp>
        <p:nvSpPr>
          <p:cNvPr id="6" name="">
            <a:extLst xmlns:a="http://schemas.openxmlformats.org/drawingml/2006/main">
              <a:ext uri="{FF2B5EF4-FFF2-40B4-BE49-F238E27FC236}">
                <a16:creationId xmlns:a16="http://schemas.microsoft.com/office/drawing/2014/main" id="{B97656C2-1AD9-403F-9E38-7EF608938087}"/>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Degraded operation</a:t>
            </a:r>
          </a:p>
        </p:txBody>
      </p:sp>
      <p:sp>
        <p:nvSpPr>
          <p:cNvPr id="7" name="">
            <a:extLst xmlns:a="http://schemas.openxmlformats.org/drawingml/2006/main">
              <a:ext uri="{FF2B5EF4-FFF2-40B4-BE49-F238E27FC236}">
                <a16:creationId xmlns:a16="http://schemas.microsoft.com/office/drawing/2014/main" id="{2A4C0F5B-E6CA-44D0-8DC6-989FA6DE18A2}"/>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Creation returns an explicit upstream error. Stored-country reads continue through MySQL while SOAP is unavailable.</a:t>
            </a:r>
          </a:p>
        </p:txBody>
      </p:sp>
      <p:sp>
        <p:nvSpPr>
          <p:cNvPr id="8" name="">
            <a:extLst xmlns:a="http://schemas.openxmlformats.org/drawingml/2006/main">
              <a:ext uri="{FF2B5EF4-FFF2-40B4-BE49-F238E27FC236}">
                <a16:creationId xmlns:a16="http://schemas.microsoft.com/office/drawing/2014/main" id="{BBF1FB02-C200-4F69-9097-E1ACAAF6906A}"/>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HTTP responses</a:t>
            </a:r>
          </a:p>
        </p:txBody>
      </p:sp>
      <p:sp>
        <p:nvSpPr>
          <p:cNvPr id="9" name="">
            <a:extLst xmlns:a="http://schemas.openxmlformats.org/drawingml/2006/main">
              <a:ext uri="{FF2B5EF4-FFF2-40B4-BE49-F238E27FC236}">
                <a16:creationId xmlns:a16="http://schemas.microsoft.com/office/drawing/2014/main" id="{BBE4E8A7-5F61-4454-B84B-00E03245B0DB}"/>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400 validation, 404 missing, 405 method, 406 response format, 409 duplicate, 415 content type, 502 upstream, 503 unavailable, 504 timeout.</a:t>
            </a:r>
          </a:p>
        </p:txBody>
      </p:sp>
      <p:sp>
        <p:nvSpPr>
          <p:cNvPr id="10" name="">
            <a:extLst xmlns:a="http://schemas.openxmlformats.org/drawingml/2006/main">
              <a:ext uri="{FF2B5EF4-FFF2-40B4-BE49-F238E27FC236}">
                <a16:creationId xmlns:a16="http://schemas.microsoft.com/office/drawing/2014/main" id="{F49D498E-CA01-4CA8-91D1-033B3B53D00B}"/>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11" name="">
            <a:extLst xmlns:a="http://schemas.openxmlformats.org/drawingml/2006/main">
              <a:ext uri="{FF2B5EF4-FFF2-40B4-BE49-F238E27FC236}">
                <a16:creationId xmlns:a16="http://schemas.microsoft.com/office/drawing/2014/main" id="{A08C5A5B-3D56-4A5C-9675-B921CCF80CE6}"/>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05</a:t>
            </a:r>
          </a:p>
        </p:txBody>
      </p:sp>
    </p:spTree>
    <p:extLst>
      <p:ext uri="{BB962C8B-B14F-4D97-AF65-F5344CB8AC3E}">
        <p14:creationId xmlns:p14="http://schemas.microsoft.com/office/powerpoint/2010/main" val="1593169265"/>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BA2C09-5BCE-4028-91F6-CB199A622956}"/>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Logs and health checks</a:t>
            </a:r>
          </a:p>
        </p:txBody>
      </p:sp>
      <p:sp>
        <p:nvSpPr>
          <p:cNvPr id="2" name="">
            <a:extLst xmlns:a="http://schemas.openxmlformats.org/drawingml/2006/main">
              <a:ext uri="{FF2B5EF4-FFF2-40B4-BE49-F238E27FC236}">
                <a16:creationId xmlns:a16="http://schemas.microsoft.com/office/drawing/2014/main" id="{DC860CE2-BCB0-4640-BAB5-7B8D91797F60}"/>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Request visibility</a:t>
            </a:r>
          </a:p>
        </p:txBody>
      </p:sp>
      <p:sp>
        <p:nvSpPr>
          <p:cNvPr id="3" name="">
            <a:extLst xmlns:a="http://schemas.openxmlformats.org/drawingml/2006/main">
              <a:ext uri="{FF2B5EF4-FFF2-40B4-BE49-F238E27FC236}">
                <a16:creationId xmlns:a16="http://schemas.microsoft.com/office/drawing/2014/main" id="{A1AB492A-00DA-4A6A-B384-618593F9F3C9}"/>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ECS JSON logs include request ID, method, path, HTTP status, and duration. Responses expose X-Request-ID.</a:t>
            </a:r>
          </a:p>
        </p:txBody>
      </p:sp>
      <p:sp>
        <p:nvSpPr>
          <p:cNvPr id="4" name="">
            <a:extLst xmlns:a="http://schemas.openxmlformats.org/drawingml/2006/main">
              <a:ext uri="{FF2B5EF4-FFF2-40B4-BE49-F238E27FC236}">
                <a16:creationId xmlns:a16="http://schemas.microsoft.com/office/drawing/2014/main" id="{AD07AE1B-73FA-4801-8ACF-A27618A0CC44}"/>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Integration diagnostics</a:t>
            </a:r>
          </a:p>
        </p:txBody>
      </p:sp>
      <p:sp>
        <p:nvSpPr>
          <p:cNvPr id="5" name="">
            <a:extLst xmlns:a="http://schemas.openxmlformats.org/drawingml/2006/main">
              <a:ext uri="{FF2B5EF4-FFF2-40B4-BE49-F238E27FC236}">
                <a16:creationId xmlns:a16="http://schemas.microsoft.com/office/drawing/2014/main" id="{CCA11202-21E2-4BA1-BB0F-D82DDB746108}"/>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SOAP logs record retry attempts, failures, and circuit transitions. Actuator exposes HTTP request timing metrics.</a:t>
            </a:r>
          </a:p>
        </p:txBody>
      </p:sp>
      <p:sp>
        <p:nvSpPr>
          <p:cNvPr id="6" name="">
            <a:extLst xmlns:a="http://schemas.openxmlformats.org/drawingml/2006/main">
              <a:ext uri="{FF2B5EF4-FFF2-40B4-BE49-F238E27FC236}">
                <a16:creationId xmlns:a16="http://schemas.microsoft.com/office/drawing/2014/main" id="{4FA9FDC9-A2DB-4D1F-B5F7-355C4DC12B33}"/>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Operational health</a:t>
            </a:r>
          </a:p>
        </p:txBody>
      </p:sp>
      <p:sp>
        <p:nvSpPr>
          <p:cNvPr id="7" name="">
            <a:extLst xmlns:a="http://schemas.openxmlformats.org/drawingml/2006/main">
              <a:ext uri="{FF2B5EF4-FFF2-40B4-BE49-F238E27FC236}">
                <a16:creationId xmlns:a16="http://schemas.microsoft.com/office/drawing/2014/main" id="{2FF6FE0D-06DE-4CD7-961E-F99818EFB6D7}"/>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Startup allows ten minutes; probes time out after ten seconds. Readiness checks MySQL; six failed liveness checks trigger a restart.</a:t>
            </a:r>
          </a:p>
        </p:txBody>
      </p:sp>
      <p:sp>
        <p:nvSpPr>
          <p:cNvPr id="8" name="">
            <a:extLst xmlns:a="http://schemas.openxmlformats.org/drawingml/2006/main">
              <a:ext uri="{FF2B5EF4-FFF2-40B4-BE49-F238E27FC236}">
                <a16:creationId xmlns:a16="http://schemas.microsoft.com/office/drawing/2014/main" id="{99EF774D-B5D8-481A-AAE3-175E8342865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2059E08D-7DEE-476E-BF85-D14F476B6E4C}"/>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06</a:t>
            </a:r>
          </a:p>
        </p:txBody>
      </p:sp>
    </p:spTree>
    <p:extLst>
      <p:ext uri="{BB962C8B-B14F-4D97-AF65-F5344CB8AC3E}">
        <p14:creationId xmlns:p14="http://schemas.microsoft.com/office/powerpoint/2010/main" val="33553669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15A425-F34E-4D55-9F0C-DC2C40464C7D}"/>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47 automated tests passed</a:t>
            </a:r>
          </a:p>
        </p:txBody>
      </p:sp>
      <p:sp>
        <p:nvSpPr>
          <p:cNvPr id="2" name="">
            <a:extLst xmlns:a="http://schemas.openxmlformats.org/drawingml/2006/main">
              <a:ext uri="{FF2B5EF4-FFF2-40B4-BE49-F238E27FC236}">
                <a16:creationId xmlns:a16="http://schemas.microsoft.com/office/drawing/2014/main" id="{7D89F45F-20C9-4547-A921-93258DF086F5}"/>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Service behavior, 17 tests</a:t>
            </a:r>
          </a:p>
        </p:txBody>
      </p:sp>
      <p:sp>
        <p:nvSpPr>
          <p:cNvPr id="3" name="">
            <a:extLst xmlns:a="http://schemas.openxmlformats.org/drawingml/2006/main">
              <a:ext uri="{FF2B5EF4-FFF2-40B4-BE49-F238E27FC236}">
                <a16:creationId xmlns:a16="http://schemas.microsoft.com/office/drawing/2014/main" id="{F2662AE1-8951-4A71-9880-9E5A37CAAD5F}"/>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Normalization, provider name fallback, duplicate races, update/delete behavior, and preservation of upstream error statuses.</a:t>
            </a:r>
          </a:p>
        </p:txBody>
      </p:sp>
      <p:sp>
        <p:nvSpPr>
          <p:cNvPr id="4" name="">
            <a:extLst xmlns:a="http://schemas.openxmlformats.org/drawingml/2006/main">
              <a:ext uri="{FF2B5EF4-FFF2-40B4-BE49-F238E27FC236}">
                <a16:creationId xmlns:a16="http://schemas.microsoft.com/office/drawing/2014/main" id="{B309F21A-05A5-47D7-A4E6-78508A4FCE4F}"/>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SOAP parsing, 9 tests</a:t>
            </a:r>
          </a:p>
        </p:txBody>
      </p:sp>
      <p:sp>
        <p:nvSpPr>
          <p:cNvPr id="5" name="">
            <a:extLst xmlns:a="http://schemas.openxmlformats.org/drawingml/2006/main">
              <a:ext uri="{FF2B5EF4-FFF2-40B4-BE49-F238E27FC236}">
                <a16:creationId xmlns:a16="http://schemas.microsoft.com/office/drawing/2014/main" id="{C8E2C07F-92DA-4760-9BFC-31655EA334FF}"/>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Namespaces and full details, unknown country, SOAP faults, malformed XML, DOCTYPE rejection, and XML escaping.</a:t>
            </a:r>
          </a:p>
        </p:txBody>
      </p:sp>
      <p:sp>
        <p:nvSpPr>
          <p:cNvPr id="6" name="">
            <a:extLst xmlns:a="http://schemas.openxmlformats.org/drawingml/2006/main">
              <a:ext uri="{FF2B5EF4-FFF2-40B4-BE49-F238E27FC236}">
                <a16:creationId xmlns:a16="http://schemas.microsoft.com/office/drawing/2014/main" id="{3BB638E7-22B4-4FFB-8E89-553D10F88A80}"/>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REST and transport, 11 tests</a:t>
            </a:r>
          </a:p>
        </p:txBody>
      </p:sp>
      <p:sp>
        <p:nvSpPr>
          <p:cNvPr id="7" name="">
            <a:extLst xmlns:a="http://schemas.openxmlformats.org/drawingml/2006/main">
              <a:ext uri="{FF2B5EF4-FFF2-40B4-BE49-F238E27FC236}">
                <a16:creationId xmlns:a16="http://schemas.microsoft.com/office/drawing/2014/main" id="{D0FC4145-96F6-486E-8825-C3A0A76C06AB}"/>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8 controller tests cover responses, validation, 406 and 415. 3 transport tests verify retries, non-retryable errors, and circuit opening.</a:t>
            </a:r>
          </a:p>
        </p:txBody>
      </p:sp>
      <p:sp>
        <p:nvSpPr>
          <p:cNvPr id="8" name="">
            <a:extLst xmlns:a="http://schemas.openxmlformats.org/drawingml/2006/main">
              <a:ext uri="{FF2B5EF4-FFF2-40B4-BE49-F238E27FC236}">
                <a16:creationId xmlns:a16="http://schemas.microsoft.com/office/drawing/2014/main" id="{9ECE5C3A-0F2B-43C7-889C-745A623CD4EA}"/>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Context and persistence, 10 tests</a:t>
            </a:r>
          </a:p>
        </p:txBody>
      </p:sp>
      <p:sp>
        <p:nvSpPr>
          <p:cNvPr id="9" name="">
            <a:extLst xmlns:a="http://schemas.openxmlformats.org/drawingml/2006/main">
              <a:ext uri="{FF2B5EF4-FFF2-40B4-BE49-F238E27FC236}">
                <a16:creationId xmlns:a16="http://schemas.microsoft.com/office/drawing/2014/main" id="{9EA35994-DE3C-4781-9332-FDDEA85E9298}"/>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42 default tests use H2 and local stubs. 5 isolated MySQL 8.4 tests verify persistence and concurrent duplicates. Zero failures, errors, or skips.</a:t>
            </a:r>
          </a:p>
        </p:txBody>
      </p:sp>
      <p:sp>
        <p:nvSpPr>
          <p:cNvPr id="10" name="">
            <a:extLst xmlns:a="http://schemas.openxmlformats.org/drawingml/2006/main">
              <a:ext uri="{FF2B5EF4-FFF2-40B4-BE49-F238E27FC236}">
                <a16:creationId xmlns:a16="http://schemas.microsoft.com/office/drawing/2014/main" id="{575A7013-4EBD-4018-A6D2-179D9BF71C0C}"/>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11" name="">
            <a:extLst xmlns:a="http://schemas.openxmlformats.org/drawingml/2006/main">
              <a:ext uri="{FF2B5EF4-FFF2-40B4-BE49-F238E27FC236}">
                <a16:creationId xmlns:a16="http://schemas.microsoft.com/office/drawing/2014/main" id="{72BD7C77-6550-4261-8A19-95FE96BC8EC2}"/>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07</a:t>
            </a:r>
          </a:p>
        </p:txBody>
      </p:sp>
    </p:spTree>
    <p:extLst>
      <p:ext uri="{BB962C8B-B14F-4D97-AF65-F5344CB8AC3E}">
        <p14:creationId xmlns:p14="http://schemas.microsoft.com/office/powerpoint/2010/main" val="1741062740"/>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FC807B-5F1F-43FA-ACEE-9D1F98E450E6}"/>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Container and Kubernetes deployment</a:t>
            </a:r>
          </a:p>
        </p:txBody>
      </p:sp>
      <p:sp>
        <p:nvSpPr>
          <p:cNvPr id="2" name="">
            <a:extLst xmlns:a="http://schemas.openxmlformats.org/drawingml/2006/main">
              <a:ext uri="{FF2B5EF4-FFF2-40B4-BE49-F238E27FC236}">
                <a16:creationId xmlns:a16="http://schemas.microsoft.com/office/drawing/2014/main" id="{263E6CFD-C973-412F-BAA2-AA5291D5B9EC}"/>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Docker Compose</a:t>
            </a:r>
          </a:p>
        </p:txBody>
      </p:sp>
      <p:sp>
        <p:nvSpPr>
          <p:cNvPr id="3" name="">
            <a:extLst xmlns:a="http://schemas.openxmlformats.org/drawingml/2006/main">
              <a:ext uri="{FF2B5EF4-FFF2-40B4-BE49-F238E27FC236}">
                <a16:creationId xmlns:a16="http://schemas.microsoft.com/office/drawing/2014/main" id="{35D162E1-7142-4167-A911-9BB478FFAE4D}"/>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Source compiles in a Java 25 build stage. The non-root runtime connects to mysql:3306. The MySQL volume preserves data.</a:t>
            </a:r>
          </a:p>
        </p:txBody>
      </p:sp>
      <p:sp>
        <p:nvSpPr>
          <p:cNvPr id="4" name="">
            <a:extLst xmlns:a="http://schemas.openxmlformats.org/drawingml/2006/main">
              <a:ext uri="{FF2B5EF4-FFF2-40B4-BE49-F238E27FC236}">
                <a16:creationId xmlns:a16="http://schemas.microsoft.com/office/drawing/2014/main" id="{F1348DCC-8B28-4E99-BDF1-C5543EB2FAEE}"/>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Kubernetes resources</a:t>
            </a:r>
          </a:p>
        </p:txBody>
      </p:sp>
      <p:sp>
        <p:nvSpPr>
          <p:cNvPr id="5" name="">
            <a:extLst xmlns:a="http://schemas.openxmlformats.org/drawingml/2006/main">
              <a:ext uri="{FF2B5EF4-FFF2-40B4-BE49-F238E27FC236}">
                <a16:creationId xmlns:a16="http://schemas.microsoft.com/office/drawing/2014/main" id="{C4CECB89-D090-467D-B1CB-645D0B8339C0}"/>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ConfigMap, credential Secret, application Deployment and Service. MySQL uses one Deployment and a 2 GiB storage claim.</a:t>
            </a:r>
          </a:p>
        </p:txBody>
      </p:sp>
      <p:sp>
        <p:nvSpPr>
          <p:cNvPr id="6" name="">
            <a:extLst xmlns:a="http://schemas.openxmlformats.org/drawingml/2006/main">
              <a:ext uri="{FF2B5EF4-FFF2-40B4-BE49-F238E27FC236}">
                <a16:creationId xmlns:a16="http://schemas.microsoft.com/office/drawing/2014/main" id="{513E5746-4E51-4B7E-93A9-EA649BB4A924}"/>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Deployment verification</a:t>
            </a:r>
          </a:p>
        </p:txBody>
      </p:sp>
      <p:sp>
        <p:nvSpPr>
          <p:cNvPr id="7" name="">
            <a:extLst xmlns:a="http://schemas.openxmlformats.org/drawingml/2006/main">
              <a:ext uri="{FF2B5EF4-FFF2-40B4-BE49-F238E27FC236}">
                <a16:creationId xmlns:a16="http://schemas.microsoft.com/office/drawing/2014/main" id="{2A70AA4D-FAD8-4615-9152-A87EA107784F}"/>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Probe/resource tuning recovered both replicas. Build-derived image tags prevent stale cache reuse. Health, shared data, and HTTP status checks verify local behavior.</a:t>
            </a:r>
          </a:p>
        </p:txBody>
      </p:sp>
      <p:sp>
        <p:nvSpPr>
          <p:cNvPr id="8" name="">
            <a:extLst xmlns:a="http://schemas.openxmlformats.org/drawingml/2006/main">
              <a:ext uri="{FF2B5EF4-FFF2-40B4-BE49-F238E27FC236}">
                <a16:creationId xmlns:a16="http://schemas.microsoft.com/office/drawing/2014/main" id="{972E8D67-AC56-4AC8-909D-4A9501BE109B}"/>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CEB93209-D7EA-49EB-A837-3B36BAEC8A00}"/>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08</a:t>
            </a:r>
          </a:p>
        </p:txBody>
      </p:sp>
    </p:spTree>
    <p:extLst>
      <p:ext uri="{BB962C8B-B14F-4D97-AF65-F5344CB8AC3E}">
        <p14:creationId xmlns:p14="http://schemas.microsoft.com/office/powerpoint/2010/main" val="108884964"/>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350870-0A57-42C0-A58D-1543EA294BEE}"/>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Shared data across two replicas</a:t>
            </a:r>
          </a:p>
        </p:txBody>
      </p:sp>
      <p:sp>
        <p:nvSpPr>
          <p:cNvPr id="2" name="">
            <a:extLst xmlns:a="http://schemas.openxmlformats.org/drawingml/2006/main">
              <a:ext uri="{FF2B5EF4-FFF2-40B4-BE49-F238E27FC236}">
                <a16:creationId xmlns:a16="http://schemas.microsoft.com/office/drawing/2014/main" id="{FF251D14-58CD-4BD1-98A6-E46F631350D9}"/>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Write through replica one</a:t>
            </a:r>
          </a:p>
        </p:txBody>
      </p:sp>
      <p:sp>
        <p:nvSpPr>
          <p:cNvPr id="3" name="">
            <a:extLst xmlns:a="http://schemas.openxmlformats.org/drawingml/2006/main">
              <a:ext uri="{FF2B5EF4-FFF2-40B4-BE49-F238E27FC236}">
                <a16:creationId xmlns:a16="http://schemas.microsoft.com/office/drawing/2014/main" id="{54D108F0-B3FA-4966-95B0-00F1B116E35E}"/>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Tanzania returned 201 Created and Location /api/countries/2. MySQL persisted the country and language.</a:t>
            </a:r>
          </a:p>
        </p:txBody>
      </p:sp>
      <p:sp>
        <p:nvSpPr>
          <p:cNvPr id="4" name="">
            <a:extLst xmlns:a="http://schemas.openxmlformats.org/drawingml/2006/main">
              <a:ext uri="{FF2B5EF4-FFF2-40B4-BE49-F238E27FC236}">
                <a16:creationId xmlns:a16="http://schemas.microsoft.com/office/drawing/2014/main" id="{25957245-DE80-4984-85AA-A3A0F82919AB}"/>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Read through replica two</a:t>
            </a:r>
          </a:p>
        </p:txBody>
      </p:sp>
      <p:sp>
        <p:nvSpPr>
          <p:cNvPr id="5" name="">
            <a:extLst xmlns:a="http://schemas.openxmlformats.org/drawingml/2006/main">
              <a:ext uri="{FF2B5EF4-FFF2-40B4-BE49-F238E27FC236}">
                <a16:creationId xmlns:a16="http://schemas.microsoft.com/office/drawing/2014/main" id="{4F2BD121-8181-4996-BE91-F41A5413B4FF}"/>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GET countries returned 200 and included Kenya and Tanzania, confirming shared persistence between application replicas.</a:t>
            </a:r>
          </a:p>
        </p:txBody>
      </p:sp>
      <p:sp>
        <p:nvSpPr>
          <p:cNvPr id="6" name="">
            <a:extLst xmlns:a="http://schemas.openxmlformats.org/drawingml/2006/main">
              <a:ext uri="{FF2B5EF4-FFF2-40B4-BE49-F238E27FC236}">
                <a16:creationId xmlns:a16="http://schemas.microsoft.com/office/drawing/2014/main" id="{566C6BFB-579B-4FF3-A471-DB48E3D59636}"/>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Scale boundary</a:t>
            </a:r>
          </a:p>
        </p:txBody>
      </p:sp>
      <p:sp>
        <p:nvSpPr>
          <p:cNvPr id="7" name="">
            <a:extLst xmlns:a="http://schemas.openxmlformats.org/drawingml/2006/main">
              <a:ext uri="{FF2B5EF4-FFF2-40B4-BE49-F238E27FC236}">
                <a16:creationId xmlns:a16="http://schemas.microsoft.com/office/drawing/2014/main" id="{685BE3EC-DEE9-489E-9F69-496E591ADBE6}"/>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During the successful test, the Service had two ready backends. Both replicas ran on one local node; multi-node availability was not demonstrated.</a:t>
            </a:r>
          </a:p>
        </p:txBody>
      </p:sp>
      <p:sp>
        <p:nvSpPr>
          <p:cNvPr id="8" name="">
            <a:extLst xmlns:a="http://schemas.openxmlformats.org/drawingml/2006/main">
              <a:ext uri="{FF2B5EF4-FFF2-40B4-BE49-F238E27FC236}">
                <a16:creationId xmlns:a16="http://schemas.microsoft.com/office/drawing/2014/main" id="{30DAAF57-0A52-4B34-A04A-A26D5B309F8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9" name="">
            <a:extLst xmlns:a="http://schemas.openxmlformats.org/drawingml/2006/main">
              <a:ext uri="{FF2B5EF4-FFF2-40B4-BE49-F238E27FC236}">
                <a16:creationId xmlns:a16="http://schemas.microsoft.com/office/drawing/2014/main" id="{72B3F729-5B64-4C88-A3A1-974A47D01999}"/>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09</a:t>
            </a:r>
          </a:p>
        </p:txBody>
      </p:sp>
    </p:spTree>
    <p:extLst>
      <p:ext uri="{BB962C8B-B14F-4D97-AF65-F5344CB8AC3E}">
        <p14:creationId xmlns:p14="http://schemas.microsoft.com/office/powerpoint/2010/main" val="1305587288"/>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CB76E2E-0D86-4E80-BB30-8F783A15F5F2}"/>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Design decisions and production work</a:t>
            </a:r>
          </a:p>
        </p:txBody>
      </p:sp>
      <p:sp>
        <p:nvSpPr>
          <p:cNvPr id="2" name="">
            <a:extLst xmlns:a="http://schemas.openxmlformats.org/drawingml/2006/main">
              <a:ext uri="{FF2B5EF4-FFF2-40B4-BE49-F238E27FC236}">
                <a16:creationId xmlns:a16="http://schemas.microsoft.com/office/drawing/2014/main" id="{6642AAC7-9C41-4FDA-BBEE-06EBDCC8351C}"/>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MySQL and stateless replicas</a:t>
            </a:r>
          </a:p>
        </p:txBody>
      </p:sp>
      <p:sp>
        <p:nvSpPr>
          <p:cNvPr id="3" name="">
            <a:extLst xmlns:a="http://schemas.openxmlformats.org/drawingml/2006/main">
              <a:ext uri="{FF2B5EF4-FFF2-40B4-BE49-F238E27FC236}">
                <a16:creationId xmlns:a16="http://schemas.microsoft.com/office/drawing/2014/main" id="{425FBF75-7FA2-48AF-B146-22BAFCF963F8}"/>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Shared durable storage keeps countries consistent across application instances. A single database simplifies this assessment deployment.</a:t>
            </a:r>
          </a:p>
        </p:txBody>
      </p:sp>
      <p:sp>
        <p:nvSpPr>
          <p:cNvPr id="4" name="">
            <a:extLst xmlns:a="http://schemas.openxmlformats.org/drawingml/2006/main">
              <a:ext uri="{FF2B5EF4-FFF2-40B4-BE49-F238E27FC236}">
                <a16:creationId xmlns:a16="http://schemas.microsoft.com/office/drawing/2014/main" id="{1CDB6E6D-6852-40C0-BEFB-170B5C62FA0E}"/>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Synchronous country creation</a:t>
            </a:r>
          </a:p>
        </p:txBody>
      </p:sp>
      <p:sp>
        <p:nvSpPr>
          <p:cNvPr id="5" name="">
            <a:extLst xmlns:a="http://schemas.openxmlformats.org/drawingml/2006/main">
              <a:ext uri="{FF2B5EF4-FFF2-40B4-BE49-F238E27FC236}">
                <a16:creationId xmlns:a16="http://schemas.microsoft.com/office/drawing/2014/main" id="{6EFA98A1-08C4-4340-8A73-622DC3DBBF8A}"/>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Direct SOAP calls return details immediately. Retries and timeouts bound failure handling. Queues would suit a future bulk import workflow.</a:t>
            </a:r>
          </a:p>
        </p:txBody>
      </p:sp>
      <p:sp>
        <p:nvSpPr>
          <p:cNvPr id="6" name="">
            <a:extLst xmlns:a="http://schemas.openxmlformats.org/drawingml/2006/main">
              <a:ext uri="{FF2B5EF4-FFF2-40B4-BE49-F238E27FC236}">
                <a16:creationId xmlns:a16="http://schemas.microsoft.com/office/drawing/2014/main" id="{98D50EB8-00E0-45FF-82DB-A5DE04E0F48C}"/>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High-load direction</a:t>
            </a:r>
          </a:p>
        </p:txBody>
      </p:sp>
      <p:sp>
        <p:nvSpPr>
          <p:cNvPr id="7" name="">
            <a:extLst xmlns:a="http://schemas.openxmlformats.org/drawingml/2006/main">
              <a:ext uri="{FF2B5EF4-FFF2-40B4-BE49-F238E27FC236}">
                <a16:creationId xmlns:a16="http://schemas.microsoft.com/office/drawing/2014/main" id="{5E06FA74-088E-4FE4-BE08-AB14CA72E849}"/>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Measure load before tuning replicas and database pools. Add paging and cache frequently read country data with explicit expiry and invalidation.</a:t>
            </a:r>
          </a:p>
        </p:txBody>
      </p:sp>
      <p:sp>
        <p:nvSpPr>
          <p:cNvPr id="8" name="">
            <a:extLst xmlns:a="http://schemas.openxmlformats.org/drawingml/2006/main">
              <a:ext uri="{FF2B5EF4-FFF2-40B4-BE49-F238E27FC236}">
                <a16:creationId xmlns:a16="http://schemas.microsoft.com/office/drawing/2014/main" id="{79D6DCB1-15C5-4D8E-A1CA-62D076DE2DDD}"/>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Production improvements</a:t>
            </a:r>
          </a:p>
        </p:txBody>
      </p:sp>
      <p:sp>
        <p:nvSpPr>
          <p:cNvPr id="9" name="">
            <a:extLst xmlns:a="http://schemas.openxmlformats.org/drawingml/2006/main">
              <a:ext uri="{FF2B5EF4-FFF2-40B4-BE49-F238E27FC236}">
                <a16:creationId xmlns:a16="http://schemas.microsoft.com/office/drawing/2014/main" id="{76F45451-7C86-48FF-8C60-D9B212B41088}"/>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Versioned migrations, TLS and API access controls, database failover, backups, load testing, and monitoring dashboards remain production work.</a:t>
            </a:r>
          </a:p>
        </p:txBody>
      </p:sp>
      <p:sp>
        <p:nvSpPr>
          <p:cNvPr id="10" name="">
            <a:extLst xmlns:a="http://schemas.openxmlformats.org/drawingml/2006/main">
              <a:ext uri="{FF2B5EF4-FFF2-40B4-BE49-F238E27FC236}">
                <a16:creationId xmlns:a16="http://schemas.microsoft.com/office/drawing/2014/main" id="{1FA29EE8-7C36-412F-B8AC-737029878BF7}"/>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11" name="">
            <a:extLst xmlns:a="http://schemas.openxmlformats.org/drawingml/2006/main">
              <a:ext uri="{FF2B5EF4-FFF2-40B4-BE49-F238E27FC236}">
                <a16:creationId xmlns:a16="http://schemas.microsoft.com/office/drawing/2014/main" id="{B2C547CE-90C9-45CB-B362-423D64C07003}"/>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10</a:t>
            </a:r>
          </a:p>
        </p:txBody>
      </p:sp>
    </p:spTree>
    <p:extLst>
      <p:ext uri="{BB962C8B-B14F-4D97-AF65-F5344CB8AC3E}">
        <p14:creationId xmlns:p14="http://schemas.microsoft.com/office/powerpoint/2010/main" val="1646744914"/>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EB004B-8771-4C45-AAEA-BA242A76E048}"/>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Run and troubleshoot</a:t>
            </a:r>
          </a:p>
        </p:txBody>
      </p:sp>
      <p:sp>
        <p:nvSpPr>
          <p:cNvPr id="2" name="">
            <a:extLst xmlns:a="http://schemas.openxmlformats.org/drawingml/2006/main">
              <a:ext uri="{FF2B5EF4-FFF2-40B4-BE49-F238E27FC236}">
                <a16:creationId xmlns:a16="http://schemas.microsoft.com/office/drawing/2014/main" id="{EBA49ED1-69E6-481A-A992-E05D692323B3}"/>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Build and run</a:t>
            </a:r>
          </a:p>
        </p:txBody>
      </p:sp>
      <p:sp>
        <p:nvSpPr>
          <p:cNvPr id="3" name="">
            <a:extLst xmlns:a="http://schemas.openxmlformats.org/drawingml/2006/main">
              <a:ext uri="{FF2B5EF4-FFF2-40B4-BE49-F238E27FC236}">
                <a16:creationId xmlns:a16="http://schemas.microsoft.com/office/drawing/2014/main" id="{768D96E9-FB24-4E68-8A17-6869E4F33CE6}"/>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Run ./mvnw clean verify without MySQL, then docker compose up -d --build. Local API: localhost:8081. MySQL tests use the mysql-it profile.</a:t>
            </a:r>
          </a:p>
        </p:txBody>
      </p:sp>
      <p:sp>
        <p:nvSpPr>
          <p:cNvPr id="4" name="">
            <a:extLst xmlns:a="http://schemas.openxmlformats.org/drawingml/2006/main">
              <a:ext uri="{FF2B5EF4-FFF2-40B4-BE49-F238E27FC236}">
                <a16:creationId xmlns:a16="http://schemas.microsoft.com/office/drawing/2014/main" id="{0F5C9D42-AEC0-4807-838F-ACC8152E7EB0}"/>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Deploy to Kubernetes</a:t>
            </a:r>
          </a:p>
        </p:txBody>
      </p:sp>
      <p:sp>
        <p:nvSpPr>
          <p:cNvPr id="5" name="">
            <a:extLst xmlns:a="http://schemas.openxmlformats.org/drawingml/2006/main">
              <a:ext uri="{FF2B5EF4-FFF2-40B4-BE49-F238E27FC236}">
                <a16:creationId xmlns:a16="http://schemas.microsoft.com/office/drawing/2014/main" id="{C7371AE4-2B20-4C96-900D-0725B1B23A2D}"/>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Run scripts/deploy.sh, then the printed port-forward command. Run scripts/verify.sh against localhost:8082. Optional HPA requires the metrics API.</a:t>
            </a:r>
          </a:p>
        </p:txBody>
      </p:sp>
      <p:sp>
        <p:nvSpPr>
          <p:cNvPr id="6" name="">
            <a:extLst xmlns:a="http://schemas.openxmlformats.org/drawingml/2006/main">
              <a:ext uri="{FF2B5EF4-FFF2-40B4-BE49-F238E27FC236}">
                <a16:creationId xmlns:a16="http://schemas.microsoft.com/office/drawing/2014/main" id="{930E95FD-7684-4E30-AA38-00ED54DEC64A}"/>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Troubleshooting guide</a:t>
            </a:r>
          </a:p>
        </p:txBody>
      </p:sp>
      <p:sp>
        <p:nvSpPr>
          <p:cNvPr id="7" name="">
            <a:extLst xmlns:a="http://schemas.openxmlformats.org/drawingml/2006/main">
              <a:ext uri="{FF2B5EF4-FFF2-40B4-BE49-F238E27FC236}">
                <a16:creationId xmlns:a16="http://schemas.microsoft.com/office/drawing/2014/main" id="{E580A9DB-0EA2-44C9-B9F1-17DEAAEA9CE4}"/>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Inspect logs and pod events. Check image availability, ports, credentials, storage binding, readiness, and resource limits.</a:t>
            </a:r>
          </a:p>
        </p:txBody>
      </p:sp>
      <p:sp>
        <p:nvSpPr>
          <p:cNvPr id="8" name="">
            <a:extLst xmlns:a="http://schemas.openxmlformats.org/drawingml/2006/main">
              <a:ext uri="{FF2B5EF4-FFF2-40B4-BE49-F238E27FC236}">
                <a16:creationId xmlns:a16="http://schemas.microsoft.com/office/drawing/2014/main" id="{4583279C-9A8B-44B7-BA50-B77DA44F1FE2}"/>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Submission contents</a:t>
            </a:r>
          </a:p>
        </p:txBody>
      </p:sp>
      <p:sp>
        <p:nvSpPr>
          <p:cNvPr id="9" name="">
            <a:extLst xmlns:a="http://schemas.openxmlformats.org/drawingml/2006/main">
              <a:ext uri="{FF2B5EF4-FFF2-40B4-BE49-F238E27FC236}">
                <a16:creationId xmlns:a16="http://schemas.microsoft.com/office/drawing/2014/main" id="{70490C87-98F1-48F4-B0B1-68787DCF94FD}"/>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https://github.com/kimtour/country-integration-service</a:t>
            </a:r>
          </a:p>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Source, tests, CI, SoapUI evidence, deployment scripts and guides included.</a:t>
            </a:r>
          </a:p>
        </p:txBody>
      </p:sp>
      <p:sp>
        <p:nvSpPr>
          <p:cNvPr id="10" name="">
            <a:extLst xmlns:a="http://schemas.openxmlformats.org/drawingml/2006/main">
              <a:ext uri="{FF2B5EF4-FFF2-40B4-BE49-F238E27FC236}">
                <a16:creationId xmlns:a16="http://schemas.microsoft.com/office/drawing/2014/main" id="{10718CB6-A8DC-4147-A5C5-B7020CB11CEC}"/>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a:t>
            </a:r>
            <a:r>
              <a:rPr sz="1125" b="0">
                <a:solidFill>
                  <a:srgbClr val="526679"/>
                </a:solidFill>
                <a:latin typeface="DejaVu Sans"/>
                <a:ea typeface="DejaVu Sans"/>
                <a:cs typeface="DejaVu Sans"/>
              </a:rPr>
              <a:t>9 October 2026</a:t>
            </a:r>
          </a:p>
        </p:txBody>
      </p:sp>
      <p:sp>
        <p:nvSpPr>
          <p:cNvPr id="11" name="">
            <a:extLst xmlns:a="http://schemas.openxmlformats.org/drawingml/2006/main">
              <a:ext uri="{FF2B5EF4-FFF2-40B4-BE49-F238E27FC236}">
                <a16:creationId xmlns:a16="http://schemas.microsoft.com/office/drawing/2014/main" id="{5F852AF7-27C4-4868-9341-6860040B9AA2}"/>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11</a:t>
            </a:r>
          </a:p>
        </p:txBody>
      </p:sp>
    </p:spTree>
    <p:extLst>
      <p:ext uri="{BB962C8B-B14F-4D97-AF65-F5344CB8AC3E}">
        <p14:creationId xmlns:p14="http://schemas.microsoft.com/office/powerpoint/2010/main" val="11127150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A3012D67-4BFF-4E42-8117-39D4B2532DCF}"/>
              </a:ext>
            </a:extLst>
          </p:cNvPr>
          <p:cNvCxnSpPr>
            <a:stCxn xmlns:a="http://schemas.openxmlformats.org/drawingml/2006/main" id="4" idx="2"/>
            <a:endCxn xmlns:a="http://schemas.openxmlformats.org/drawingml/2006/main" id="6" idx="0"/>
          </p:cNvCxnSpPr>
          <p:nvPr/>
        </p:nvCxnSpPr>
        <p:spPr>
          <a:xfrm xmlns:a="http://schemas.openxmlformats.org/drawingml/2006/main">
            <a:off x="9001125" y="2952750"/>
            <a:ext cx="714375" cy="1333500"/>
          </a:xfrm>
          <a:prstGeom xmlns:a="http://schemas.openxmlformats.org/drawingml/2006/main" prst="bentConnector4">
            <a:avLst>
              <a:gd name="adj1" fmla="val 0"/>
              <a:gd name="adj2" fmla="val 50000"/>
            </a:avLst>
          </a:prstGeom>
          <a:ln xmlns:a="http://schemas.openxmlformats.org/drawingml/2006/main" w="19050">
            <a:solidFill>
              <a:srgbClr val="00878C"/>
            </a:solidFill>
            <a:tailEnd type="arrow" w="med" len="med"/>
          </a:ln>
        </p:spPr>
      </p:cxnSp>
      <p:cxnSp>
        <p:nvCxnSpPr>
          <p:cNvPr id="9" name="">
            <a:extLst xmlns:a="http://schemas.openxmlformats.org/drawingml/2006/main">
              <a:ext uri="{FF2B5EF4-FFF2-40B4-BE49-F238E27FC236}">
                <a16:creationId xmlns:a16="http://schemas.microsoft.com/office/drawing/2014/main" id="{07AEA957-AB23-4479-A679-B242F1241C33}"/>
              </a:ext>
            </a:extLst>
          </p:cNvPr>
          <p:cNvCxnSpPr>
            <a:stCxn xmlns:a="http://schemas.openxmlformats.org/drawingml/2006/main" id="4" idx="2"/>
            <a:endCxn xmlns:a="http://schemas.openxmlformats.org/drawingml/2006/main" id="5" idx="0"/>
          </p:cNvCxnSpPr>
          <p:nvPr/>
        </p:nvCxnSpPr>
        <p:spPr>
          <a:xfrm xmlns:a="http://schemas.openxmlformats.org/drawingml/2006/main" flipH="1">
            <a:off x="5524500" y="2952750"/>
            <a:ext cx="3476625" cy="1333500"/>
          </a:xfrm>
          <a:prstGeom xmlns:a="http://schemas.openxmlformats.org/drawingml/2006/main" prst="bentConnector4">
            <a:avLst>
              <a:gd name="adj1" fmla="val 0"/>
              <a:gd name="adj2" fmla="val 50000"/>
            </a:avLst>
          </a:prstGeom>
          <a:ln xmlns:a="http://schemas.openxmlformats.org/drawingml/2006/main" w="19050">
            <a:solidFill>
              <a:srgbClr val="00878C"/>
            </a:solidFill>
            <a:tailEnd type="arrow" w="med" len="med"/>
          </a:ln>
        </p:spPr>
      </p:cxnSp>
      <p:cxnSp>
        <p:nvCxnSpPr>
          <p:cNvPr id="8" name="">
            <a:extLst xmlns:a="http://schemas.openxmlformats.org/drawingml/2006/main">
              <a:ext uri="{FF2B5EF4-FFF2-40B4-BE49-F238E27FC236}">
                <a16:creationId xmlns:a16="http://schemas.microsoft.com/office/drawing/2014/main" id="{31C5BFAD-0A00-453C-9397-EE3AECB25D6E}"/>
              </a:ext>
            </a:extLst>
          </p:cNvPr>
          <p:cNvCxnSpPr>
            <a:stCxn xmlns:a="http://schemas.openxmlformats.org/drawingml/2006/main" id="3" idx="3"/>
            <a:endCxn xmlns:a="http://schemas.openxmlformats.org/drawingml/2006/main" id="4" idx="1"/>
          </p:cNvCxnSpPr>
          <p:nvPr/>
        </p:nvCxnSpPr>
        <p:spPr>
          <a:xfrm xmlns:a="http://schemas.openxmlformats.org/drawingml/2006/main">
            <a:off x="6000750" y="2476500"/>
            <a:ext cx="857250" cy="0"/>
          </a:xfrm>
          <a:prstGeom xmlns:a="http://schemas.openxmlformats.org/drawingml/2006/main" prst="straightConnector1">
            <a:avLst/>
          </a:prstGeom>
          <a:ln xmlns:a="http://schemas.openxmlformats.org/drawingml/2006/main" w="19050">
            <a:solidFill>
              <a:srgbClr val="00878C"/>
            </a:solidFill>
            <a:tailEnd type="arrow" w="med" len="med"/>
          </a:ln>
        </p:spPr>
      </p:cxnSp>
      <p:cxnSp>
        <p:nvCxnSpPr>
          <p:cNvPr id="7" name="">
            <a:extLst xmlns:a="http://schemas.openxmlformats.org/drawingml/2006/main">
              <a:ext uri="{FF2B5EF4-FFF2-40B4-BE49-F238E27FC236}">
                <a16:creationId xmlns:a16="http://schemas.microsoft.com/office/drawing/2014/main" id="{74DD87BF-081C-4E87-B286-4B8E6CC6D9A9}"/>
              </a:ext>
            </a:extLst>
          </p:cNvPr>
          <p:cNvCxnSpPr>
            <a:stCxn xmlns:a="http://schemas.openxmlformats.org/drawingml/2006/main" id="2" idx="3"/>
            <a:endCxn xmlns:a="http://schemas.openxmlformats.org/drawingml/2006/main" id="3" idx="1"/>
          </p:cNvCxnSpPr>
          <p:nvPr/>
        </p:nvCxnSpPr>
        <p:spPr>
          <a:xfrm xmlns:a="http://schemas.openxmlformats.org/drawingml/2006/main">
            <a:off x="2952750" y="2476500"/>
            <a:ext cx="857250" cy="0"/>
          </a:xfrm>
          <a:prstGeom xmlns:a="http://schemas.openxmlformats.org/drawingml/2006/main" prst="straightConnector1">
            <a:avLst/>
          </a:prstGeom>
          <a:ln xmlns:a="http://schemas.openxmlformats.org/drawingml/2006/main" w="19050">
            <a:solidFill>
              <a:srgbClr val="00878C"/>
            </a:solidFill>
            <a:tailEnd type="arrow" w="med" len="med"/>
          </a:ln>
        </p:spPr>
      </p:cxnSp>
      <p:sp>
        <p:nvSpPr>
          <p:cNvPr id="16" name="">
            <a:extLst xmlns:a="http://schemas.openxmlformats.org/drawingml/2006/main">
              <a:ext uri="{FF2B5EF4-FFF2-40B4-BE49-F238E27FC236}">
                <a16:creationId xmlns:a16="http://schemas.microsoft.com/office/drawing/2014/main" id="{580859FE-57A5-4504-8324-ACE7C0F1FAC2}"/>
              </a:ext>
            </a:extLst>
          </p:cNvPr>
          <p:cNvSpPr>
            <a:spLocks xmlns:a="http://schemas.openxmlformats.org/drawingml/2006/main" noGrp="1"/>
          </p:cNvSpPr>
          <p:nvPr/>
        </p:nvSpPr>
        <p:spPr>
          <a:xfrm xmlns:a="http://schemas.openxmlformats.org/drawingml/2006/main">
            <a:off x="771525" y="552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4344A"/>
                </a:solidFill>
                <a:latin typeface="DejaVu Sans"/>
                <a:ea typeface="DejaVu Sans"/>
                <a:cs typeface="DejaVu Sans"/>
              </a:defRPr>
            </a:defPPr>
          </a:lstStyle>
          <a:p xmlns:a="http://schemas.openxmlformats.org/drawingml/2006/main">
            <a:pPr>
              <a:defRPr sz="3150" b="1">
                <a:solidFill>
                  <a:srgbClr val="14344A"/>
                </a:solidFill>
                <a:latin typeface="DejaVu Sans"/>
                <a:ea typeface="DejaVu Sans"/>
                <a:cs typeface="DejaVu Sans"/>
              </a:defRPr>
            </a:pPr>
            <a:r>
              <a:rPr sz="3150" b="1">
                <a:solidFill>
                  <a:srgbClr val="14344A"/>
                </a:solidFill>
                <a:latin typeface="DejaVu Sans"/>
                <a:ea typeface="DejaVu Sans"/>
                <a:cs typeface="DejaVu Sans"/>
              </a:rPr>
              <a:t>How requests reach shared data</a:t>
            </a:r>
          </a:p>
        </p:txBody>
      </p:sp>
      <p:sp>
        <p:nvSpPr>
          <p:cNvPr id="2" name="">
            <a:extLst xmlns:a="http://schemas.openxmlformats.org/drawingml/2006/main">
              <a:ext uri="{FF2B5EF4-FFF2-40B4-BE49-F238E27FC236}">
                <a16:creationId xmlns:a16="http://schemas.microsoft.com/office/drawing/2014/main" id="{384FF4EA-6FCB-4451-BC6D-50F90E5967B1}"/>
              </a:ext>
            </a:extLst>
          </p:cNvPr>
          <p:cNvSpPr>
            <a:spLocks xmlns:a="http://schemas.openxmlformats.org/drawingml/2006/main" noGrp="1"/>
          </p:cNvSpPr>
          <p:nvPr/>
        </p:nvSpPr>
        <p:spPr>
          <a:xfrm xmlns:a="http://schemas.openxmlformats.org/drawingml/2006/main">
            <a:off x="762000" y="2000250"/>
            <a:ext cx="2190750" cy="952500"/>
          </a:xfrm>
          <a:prstGeom xmlns:a="http://schemas.openxmlformats.org/drawingml/2006/main" prst="roundRect">
            <a:avLst>
              <a:gd name="adj" fmla="val 8000"/>
            </a:avLst>
          </a:prstGeom>
          <a:solidFill xmlns:a="http://schemas.openxmlformats.org/drawingml/2006/main">
            <a:srgbClr val="E3F2F3"/>
          </a:solidFill>
          <a:ln xmlns:a="http://schemas.openxmlformats.org/drawingml/2006/main" w="19050">
            <a:solidFill>
              <a:srgbClr val="00878C"/>
            </a:solidFill>
          </a:ln>
        </p:spPr>
        <p:txBody>
          <a:bodyPr xmlns:a="http://schemas.openxmlformats.org/drawingml/2006/main" anchor="ctr">
            <a:noAutofit/>
          </a:bodyPr>
          <a:lstStyle xmlns:a="http://schemas.openxmlformats.org/drawingml/2006/main">
            <a:defPPr algn="ctr">
              <a:defRPr sz="1800" b="1">
                <a:solidFill>
                  <a:srgbClr val="14344A"/>
                </a:solidFill>
                <a:latin typeface="DejaVu Sans"/>
                <a:ea typeface="DejaVu Sans"/>
                <a:cs typeface="DejaVu Sans"/>
              </a:defRPr>
            </a:defPPr>
          </a:lstStyle>
          <a:p xmlns:a="http://schemas.openxmlformats.org/drawingml/2006/main">
            <a:pPr algn="ctr">
              <a:defRPr sz="1800" b="1">
                <a:solidFill>
                  <a:srgbClr val="14344A"/>
                </a:solidFill>
                <a:latin typeface="DejaVu Sans"/>
                <a:ea typeface="DejaVu Sans"/>
                <a:cs typeface="DejaVu Sans"/>
              </a:defRPr>
            </a:pPr>
            <a:r>
              <a:rPr sz="1800" b="1">
                <a:solidFill>
                  <a:srgbClr val="14344A"/>
                </a:solidFill>
                <a:latin typeface="DejaVu Sans"/>
                <a:ea typeface="DejaVu Sans"/>
                <a:cs typeface="DejaVu Sans"/>
              </a:rPr>
              <a:t>REST clients</a:t>
            </a:r>
          </a:p>
        </p:txBody>
      </p:sp>
      <p:sp>
        <p:nvSpPr>
          <p:cNvPr id="3" name="">
            <a:extLst xmlns:a="http://schemas.openxmlformats.org/drawingml/2006/main">
              <a:ext uri="{FF2B5EF4-FFF2-40B4-BE49-F238E27FC236}">
                <a16:creationId xmlns:a16="http://schemas.microsoft.com/office/drawing/2014/main" id="{41EE8621-DAE1-4340-8D9F-925F031AFD87}"/>
              </a:ext>
            </a:extLst>
          </p:cNvPr>
          <p:cNvSpPr>
            <a:spLocks xmlns:a="http://schemas.openxmlformats.org/drawingml/2006/main" noGrp="1"/>
          </p:cNvSpPr>
          <p:nvPr/>
        </p:nvSpPr>
        <p:spPr>
          <a:xfrm xmlns:a="http://schemas.openxmlformats.org/drawingml/2006/main">
            <a:off x="3810000" y="2000250"/>
            <a:ext cx="2190750" cy="952500"/>
          </a:xfrm>
          <a:prstGeom xmlns:a="http://schemas.openxmlformats.org/drawingml/2006/main" prst="roundRect">
            <a:avLst>
              <a:gd name="adj" fmla="val 8000"/>
            </a:avLst>
          </a:prstGeom>
          <a:solidFill xmlns:a="http://schemas.openxmlformats.org/drawingml/2006/main">
            <a:srgbClr val="E3F2F3"/>
          </a:solidFill>
          <a:ln xmlns:a="http://schemas.openxmlformats.org/drawingml/2006/main" w="19050">
            <a:solidFill>
              <a:srgbClr val="00878C"/>
            </a:solidFill>
          </a:ln>
        </p:spPr>
        <p:txBody>
          <a:bodyPr xmlns:a="http://schemas.openxmlformats.org/drawingml/2006/main" anchor="ctr">
            <a:noAutofit/>
          </a:bodyPr>
          <a:lstStyle xmlns:a="http://schemas.openxmlformats.org/drawingml/2006/main">
            <a:defPPr algn="ctr">
              <a:defRPr sz="1800" b="1">
                <a:solidFill>
                  <a:srgbClr val="14344A"/>
                </a:solidFill>
                <a:latin typeface="DejaVu Sans"/>
                <a:ea typeface="DejaVu Sans"/>
                <a:cs typeface="DejaVu Sans"/>
              </a:defRPr>
            </a:defPPr>
          </a:lstStyle>
          <a:p xmlns:a="http://schemas.openxmlformats.org/drawingml/2006/main">
            <a:pPr algn="ctr">
              <a:defRPr sz="1800" b="1">
                <a:solidFill>
                  <a:srgbClr val="14344A"/>
                </a:solidFill>
                <a:latin typeface="DejaVu Sans"/>
                <a:ea typeface="DejaVu Sans"/>
                <a:cs typeface="DejaVu Sans"/>
              </a:defRPr>
            </a:pPr>
            <a:r>
              <a:rPr sz="1800" b="1">
                <a:solidFill>
                  <a:srgbClr val="14344A"/>
                </a:solidFill>
                <a:latin typeface="DejaVu Sans"/>
                <a:ea typeface="DejaVu Sans"/>
                <a:cs typeface="DejaVu Sans"/>
              </a:rPr>
              <a:t>Kubernetes Service</a:t>
            </a:r>
          </a:p>
        </p:txBody>
      </p:sp>
      <p:sp>
        <p:nvSpPr>
          <p:cNvPr id="4" name="">
            <a:extLst xmlns:a="http://schemas.openxmlformats.org/drawingml/2006/main">
              <a:ext uri="{FF2B5EF4-FFF2-40B4-BE49-F238E27FC236}">
                <a16:creationId xmlns:a16="http://schemas.microsoft.com/office/drawing/2014/main" id="{1817F563-EBCF-4EE6-B28F-3A7DEA04CE10}"/>
              </a:ext>
            </a:extLst>
          </p:cNvPr>
          <p:cNvSpPr>
            <a:spLocks xmlns:a="http://schemas.openxmlformats.org/drawingml/2006/main" noGrp="1"/>
          </p:cNvSpPr>
          <p:nvPr/>
        </p:nvSpPr>
        <p:spPr>
          <a:xfrm xmlns:a="http://schemas.openxmlformats.org/drawingml/2006/main">
            <a:off x="6858000" y="2000250"/>
            <a:ext cx="4286250" cy="952500"/>
          </a:xfrm>
          <a:prstGeom xmlns:a="http://schemas.openxmlformats.org/drawingml/2006/main" prst="roundRect">
            <a:avLst>
              <a:gd name="adj" fmla="val 8000"/>
            </a:avLst>
          </a:prstGeom>
          <a:solidFill xmlns:a="http://schemas.openxmlformats.org/drawingml/2006/main">
            <a:srgbClr val="E3F2F3"/>
          </a:solidFill>
          <a:ln xmlns:a="http://schemas.openxmlformats.org/drawingml/2006/main" w="19050">
            <a:solidFill>
              <a:srgbClr val="00878C"/>
            </a:solidFill>
          </a:ln>
        </p:spPr>
        <p:txBody>
          <a:bodyPr xmlns:a="http://schemas.openxmlformats.org/drawingml/2006/main" anchor="ctr">
            <a:noAutofit/>
          </a:bodyPr>
          <a:lstStyle xmlns:a="http://schemas.openxmlformats.org/drawingml/2006/main">
            <a:defPPr algn="ctr">
              <a:defRPr sz="1800" b="1">
                <a:solidFill>
                  <a:srgbClr val="14344A"/>
                </a:solidFill>
                <a:latin typeface="DejaVu Sans"/>
                <a:ea typeface="DejaVu Sans"/>
                <a:cs typeface="DejaVu Sans"/>
              </a:defRPr>
            </a:defPPr>
          </a:lstStyle>
          <a:p xmlns:a="http://schemas.openxmlformats.org/drawingml/2006/main">
            <a:pPr algn="ctr">
              <a:defRPr sz="1800" b="1">
                <a:solidFill>
                  <a:srgbClr val="14344A"/>
                </a:solidFill>
                <a:latin typeface="DejaVu Sans"/>
                <a:ea typeface="DejaVu Sans"/>
                <a:cs typeface="DejaVu Sans"/>
              </a:defRPr>
            </a:pPr>
            <a:r>
              <a:rPr sz="1800" b="1">
                <a:solidFill>
                  <a:srgbClr val="14344A"/>
                </a:solidFill>
                <a:latin typeface="DejaVu Sans"/>
                <a:ea typeface="DejaVu Sans"/>
                <a:cs typeface="DejaVu Sans"/>
              </a:rPr>
              <a:t>Two stateless app replicas</a:t>
            </a:r>
          </a:p>
        </p:txBody>
      </p:sp>
      <p:sp>
        <p:nvSpPr>
          <p:cNvPr id="5" name="">
            <a:extLst xmlns:a="http://schemas.openxmlformats.org/drawingml/2006/main">
              <a:ext uri="{FF2B5EF4-FFF2-40B4-BE49-F238E27FC236}">
                <a16:creationId xmlns:a16="http://schemas.microsoft.com/office/drawing/2014/main" id="{4A28B4F8-DA98-4E5B-BCEB-42D19687F58F}"/>
              </a:ext>
            </a:extLst>
          </p:cNvPr>
          <p:cNvSpPr>
            <a:spLocks xmlns:a="http://schemas.openxmlformats.org/drawingml/2006/main" noGrp="1"/>
          </p:cNvSpPr>
          <p:nvPr/>
        </p:nvSpPr>
        <p:spPr>
          <a:xfrm xmlns:a="http://schemas.openxmlformats.org/drawingml/2006/main">
            <a:off x="4095750" y="4286250"/>
            <a:ext cx="2857500" cy="952500"/>
          </a:xfrm>
          <a:prstGeom xmlns:a="http://schemas.openxmlformats.org/drawingml/2006/main" prst="roundRect">
            <a:avLst>
              <a:gd name="adj" fmla="val 8000"/>
            </a:avLst>
          </a:prstGeom>
          <a:solidFill xmlns:a="http://schemas.openxmlformats.org/drawingml/2006/main">
            <a:srgbClr val="E3F2F3"/>
          </a:solidFill>
          <a:ln xmlns:a="http://schemas.openxmlformats.org/drawingml/2006/main" w="19050">
            <a:solidFill>
              <a:srgbClr val="00878C"/>
            </a:solidFill>
          </a:ln>
        </p:spPr>
        <p:txBody>
          <a:bodyPr xmlns:a="http://schemas.openxmlformats.org/drawingml/2006/main" anchor="ctr">
            <a:noAutofit/>
          </a:bodyPr>
          <a:lstStyle xmlns:a="http://schemas.openxmlformats.org/drawingml/2006/main">
            <a:defPPr algn="ctr">
              <a:defRPr sz="1800" b="1">
                <a:solidFill>
                  <a:srgbClr val="14344A"/>
                </a:solidFill>
                <a:latin typeface="DejaVu Sans"/>
                <a:ea typeface="DejaVu Sans"/>
                <a:cs typeface="DejaVu Sans"/>
              </a:defRPr>
            </a:defPPr>
          </a:lstStyle>
          <a:p xmlns:a="http://schemas.openxmlformats.org/drawingml/2006/main">
            <a:pPr algn="ctr">
              <a:defRPr sz="1800" b="1">
                <a:solidFill>
                  <a:srgbClr val="14344A"/>
                </a:solidFill>
                <a:latin typeface="DejaVu Sans"/>
                <a:ea typeface="DejaVu Sans"/>
                <a:cs typeface="DejaVu Sans"/>
              </a:defRPr>
            </a:pPr>
            <a:r>
              <a:rPr sz="1800" b="1">
                <a:solidFill>
                  <a:srgbClr val="14344A"/>
                </a:solidFill>
                <a:latin typeface="DejaVu Sans"/>
                <a:ea typeface="DejaVu Sans"/>
                <a:cs typeface="DejaVu Sans"/>
              </a:rPr>
              <a:t>Shared MySQL</a:t>
            </a:r>
          </a:p>
        </p:txBody>
      </p:sp>
      <p:sp>
        <p:nvSpPr>
          <p:cNvPr id="6" name="">
            <a:extLst xmlns:a="http://schemas.openxmlformats.org/drawingml/2006/main">
              <a:ext uri="{FF2B5EF4-FFF2-40B4-BE49-F238E27FC236}">
                <a16:creationId xmlns:a16="http://schemas.microsoft.com/office/drawing/2014/main" id="{1B608FDA-F190-48AA-86B5-E601E088D3A2}"/>
              </a:ext>
            </a:extLst>
          </p:cNvPr>
          <p:cNvSpPr>
            <a:spLocks xmlns:a="http://schemas.openxmlformats.org/drawingml/2006/main" noGrp="1"/>
          </p:cNvSpPr>
          <p:nvPr/>
        </p:nvSpPr>
        <p:spPr>
          <a:xfrm xmlns:a="http://schemas.openxmlformats.org/drawingml/2006/main">
            <a:off x="8286750" y="4286250"/>
            <a:ext cx="2857500" cy="952500"/>
          </a:xfrm>
          <a:prstGeom xmlns:a="http://schemas.openxmlformats.org/drawingml/2006/main" prst="roundRect">
            <a:avLst>
              <a:gd name="adj" fmla="val 8000"/>
            </a:avLst>
          </a:prstGeom>
          <a:solidFill xmlns:a="http://schemas.openxmlformats.org/drawingml/2006/main">
            <a:srgbClr val="E3F2F3"/>
          </a:solidFill>
          <a:ln xmlns:a="http://schemas.openxmlformats.org/drawingml/2006/main" w="19050">
            <a:solidFill>
              <a:srgbClr val="00878C"/>
            </a:solidFill>
          </a:ln>
        </p:spPr>
        <p:txBody>
          <a:bodyPr xmlns:a="http://schemas.openxmlformats.org/drawingml/2006/main" anchor="ctr">
            <a:noAutofit/>
          </a:bodyPr>
          <a:lstStyle xmlns:a="http://schemas.openxmlformats.org/drawingml/2006/main">
            <a:defPPr algn="ctr">
              <a:defRPr sz="1800" b="1">
                <a:solidFill>
                  <a:srgbClr val="14344A"/>
                </a:solidFill>
                <a:latin typeface="DejaVu Sans"/>
                <a:ea typeface="DejaVu Sans"/>
                <a:cs typeface="DejaVu Sans"/>
              </a:defRPr>
            </a:defPPr>
          </a:lstStyle>
          <a:p xmlns:a="http://schemas.openxmlformats.org/drawingml/2006/main">
            <a:pPr algn="ctr">
              <a:defRPr sz="1800" b="1">
                <a:solidFill>
                  <a:srgbClr val="14344A"/>
                </a:solidFill>
                <a:latin typeface="DejaVu Sans"/>
                <a:ea typeface="DejaVu Sans"/>
                <a:cs typeface="DejaVu Sans"/>
              </a:defRPr>
            </a:pPr>
            <a:r>
              <a:rPr sz="1800" b="1">
                <a:solidFill>
                  <a:srgbClr val="14344A"/>
                </a:solidFill>
                <a:latin typeface="DejaVu Sans"/>
                <a:ea typeface="DejaVu Sans"/>
                <a:cs typeface="DejaVu Sans"/>
              </a:rPr>
              <a:t>External SOAP provider</a:t>
            </a:r>
          </a:p>
        </p:txBody>
      </p:sp>
      <p:sp>
        <p:nvSpPr>
          <p:cNvPr id="11" name="">
            <a:extLst xmlns:a="http://schemas.openxmlformats.org/drawingml/2006/main">
              <a:ext uri="{FF2B5EF4-FFF2-40B4-BE49-F238E27FC236}">
                <a16:creationId xmlns:a16="http://schemas.microsoft.com/office/drawing/2014/main" id="{84EA94D7-771B-48E5-9E11-7225E57FF9A1}"/>
              </a:ext>
            </a:extLst>
          </p:cNvPr>
          <p:cNvSpPr>
            <a:spLocks xmlns:a="http://schemas.openxmlformats.org/drawingml/2006/main" noGrp="1"/>
          </p:cNvSpPr>
          <p:nvPr/>
        </p:nvSpPr>
        <p:spPr>
          <a:xfrm xmlns:a="http://schemas.openxmlformats.org/drawingml/2006/main">
            <a:off x="3476625" y="13811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00878C"/>
                </a:solidFill>
                <a:latin typeface="DejaVu Sans"/>
                <a:ea typeface="DejaVu Sans"/>
                <a:cs typeface="DejaVu Sans"/>
              </a:defRPr>
            </a:defPPr>
          </a:lstStyle>
          <a:p xmlns:a="http://schemas.openxmlformats.org/drawingml/2006/main">
            <a:pPr>
              <a:defRPr sz="1800" b="1">
                <a:solidFill>
                  <a:srgbClr val="00878C"/>
                </a:solidFill>
                <a:latin typeface="DejaVu Sans"/>
                <a:ea typeface="DejaVu Sans"/>
                <a:cs typeface="DejaVu Sans"/>
              </a:defRPr>
            </a:pPr>
            <a:r>
              <a:rPr sz="1800" b="1">
                <a:solidFill>
                  <a:srgbClr val="00878C"/>
                </a:solidFill>
                <a:latin typeface="DejaVu Sans"/>
                <a:ea typeface="DejaVu Sans"/>
                <a:cs typeface="DejaVu Sans"/>
              </a:rPr>
              <a:t>Service routes traffic to ready pods</a:t>
            </a:r>
          </a:p>
        </p:txBody>
      </p:sp>
      <p:sp>
        <p:nvSpPr>
          <p:cNvPr id="12" name="">
            <a:extLst xmlns:a="http://schemas.openxmlformats.org/drawingml/2006/main">
              <a:ext uri="{FF2B5EF4-FFF2-40B4-BE49-F238E27FC236}">
                <a16:creationId xmlns:a16="http://schemas.microsoft.com/office/drawing/2014/main" id="{34045F3D-6F9E-49A8-AEDB-D8837D07960A}"/>
              </a:ext>
            </a:extLst>
          </p:cNvPr>
          <p:cNvSpPr>
            <a:spLocks xmlns:a="http://schemas.openxmlformats.org/drawingml/2006/main" noGrp="1"/>
          </p:cNvSpPr>
          <p:nvPr/>
        </p:nvSpPr>
        <p:spPr>
          <a:xfrm xmlns:a="http://schemas.openxmlformats.org/drawingml/2006/main">
            <a:off x="3762375" y="53911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4344A"/>
                </a:solidFill>
                <a:latin typeface="DejaVu Sans"/>
                <a:ea typeface="DejaVu Sans"/>
                <a:cs typeface="DejaVu Sans"/>
              </a:defRPr>
            </a:defPPr>
          </a:lstStyle>
          <a:p xmlns:a="http://schemas.openxmlformats.org/drawingml/2006/main">
            <a:pPr>
              <a:defRPr sz="1800" b="0">
                <a:solidFill>
                  <a:srgbClr val="14344A"/>
                </a:solidFill>
                <a:latin typeface="DejaVu Sans"/>
                <a:ea typeface="DejaVu Sans"/>
                <a:cs typeface="DejaVu Sans"/>
              </a:defRPr>
            </a:pPr>
            <a:r>
              <a:rPr sz="1800" b="0">
                <a:solidFill>
                  <a:srgbClr val="14344A"/>
                </a:solidFill>
                <a:latin typeface="DejaVu Sans"/>
                <a:ea typeface="DejaVu Sans"/>
                <a:cs typeface="DejaVu Sans"/>
              </a:rPr>
              <a:t>CRUD uses stored data</a:t>
            </a:r>
          </a:p>
        </p:txBody>
      </p:sp>
      <p:sp>
        <p:nvSpPr>
          <p:cNvPr id="13" name="">
            <a:extLst xmlns:a="http://schemas.openxmlformats.org/drawingml/2006/main">
              <a:ext uri="{FF2B5EF4-FFF2-40B4-BE49-F238E27FC236}">
                <a16:creationId xmlns:a16="http://schemas.microsoft.com/office/drawing/2014/main" id="{68F5A92E-5B5D-4A60-9CE6-B59F0BA73D6D}"/>
              </a:ext>
            </a:extLst>
          </p:cNvPr>
          <p:cNvSpPr>
            <a:spLocks xmlns:a="http://schemas.openxmlformats.org/drawingml/2006/main" noGrp="1"/>
          </p:cNvSpPr>
          <p:nvPr/>
        </p:nvSpPr>
        <p:spPr>
          <a:xfrm xmlns:a="http://schemas.openxmlformats.org/drawingml/2006/main">
            <a:off x="7715250" y="53911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4344A"/>
                </a:solidFill>
                <a:latin typeface="DejaVu Sans"/>
                <a:ea typeface="DejaVu Sans"/>
                <a:cs typeface="DejaVu Sans"/>
              </a:defRPr>
            </a:defPPr>
          </a:lstStyle>
          <a:p xmlns:a="http://schemas.openxmlformats.org/drawingml/2006/main">
            <a:pPr>
              <a:defRPr sz="1800" b="0">
                <a:solidFill>
                  <a:srgbClr val="14344A"/>
                </a:solidFill>
                <a:latin typeface="DejaVu Sans"/>
                <a:ea typeface="DejaVu Sans"/>
                <a:cs typeface="DejaVu Sans"/>
              </a:defRPr>
            </a:pPr>
            <a:r>
              <a:rPr sz="1800" b="0">
                <a:solidFill>
                  <a:srgbClr val="14344A"/>
                </a:solidFill>
                <a:latin typeface="DejaVu Sans"/>
                <a:ea typeface="DejaVu Sans"/>
                <a:cs typeface="DejaVu Sans"/>
              </a:rPr>
              <a:t>Creation resolves ISO + details</a:t>
            </a:r>
          </a:p>
        </p:txBody>
      </p:sp>
      <p:sp>
        <p:nvSpPr>
          <p:cNvPr id="14" name="">
            <a:extLst xmlns:a="http://schemas.openxmlformats.org/drawingml/2006/main">
              <a:ext uri="{FF2B5EF4-FFF2-40B4-BE49-F238E27FC236}">
                <a16:creationId xmlns:a16="http://schemas.microsoft.com/office/drawing/2014/main" id="{3CE69519-E207-4A48-98B5-1C46904768BC}"/>
              </a:ext>
            </a:extLst>
          </p:cNvPr>
          <p:cNvSpPr>
            <a:spLocks xmlns:a="http://schemas.openxmlformats.org/drawingml/2006/main" noGrp="1"/>
          </p:cNvSpPr>
          <p:nvPr/>
        </p:nvSpPr>
        <p:spPr>
          <a:xfrm xmlns:a="http://schemas.openxmlformats.org/drawingml/2006/main">
            <a:off x="771525" y="63817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526A80"/>
                </a:solidFill>
                <a:latin typeface="DejaVu Sans"/>
                <a:ea typeface="DejaVu Sans"/>
                <a:cs typeface="DejaVu Sans"/>
              </a:defRPr>
            </a:defPPr>
          </a:lstStyle>
          <a:p xmlns:a="http://schemas.openxmlformats.org/drawingml/2006/main">
            <a:pPr>
              <a:defRPr sz="1050" b="0">
                <a:solidFill>
                  <a:srgbClr val="526A80"/>
                </a:solidFill>
                <a:latin typeface="DejaVu Sans"/>
                <a:ea typeface="DejaVu Sans"/>
                <a:cs typeface="DejaVu Sans"/>
              </a:defRPr>
            </a:pPr>
            <a:r>
              <a:rPr sz="1050" b="0">
                <a:solidFill>
                  <a:srgbClr val="526A80"/>
                </a:solidFill>
                <a:latin typeface="DejaVu Sans"/>
                <a:ea typeface="DejaVu Sans"/>
                <a:cs typeface="DejaVu Sans"/>
              </a:rPr>
              <a:t>Samuel Mutua Kimani, 9 October 2026</a:t>
            </a:r>
          </a:p>
        </p:txBody>
      </p:sp>
      <p:sp>
        <p:nvSpPr>
          <p:cNvPr id="15" name="">
            <a:extLst xmlns:a="http://schemas.openxmlformats.org/drawingml/2006/main">
              <a:ext uri="{FF2B5EF4-FFF2-40B4-BE49-F238E27FC236}">
                <a16:creationId xmlns:a16="http://schemas.microsoft.com/office/drawing/2014/main" id="{D022220E-F488-44AB-8711-DCC5120E529B}"/>
              </a:ext>
            </a:extLst>
          </p:cNvPr>
          <p:cNvSpPr>
            <a:spLocks xmlns:a="http://schemas.openxmlformats.org/drawingml/2006/main" noGrp="1"/>
          </p:cNvSpPr>
          <p:nvPr/>
        </p:nvSpPr>
        <p:spPr>
          <a:xfrm xmlns:a="http://schemas.openxmlformats.org/drawingml/2006/main">
            <a:off x="11229975" y="6381750"/>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526A80"/>
                </a:solidFill>
                <a:latin typeface="DejaVu Sans"/>
                <a:ea typeface="DejaVu Sans"/>
                <a:cs typeface="DejaVu Sans"/>
              </a:defRPr>
            </a:defPPr>
          </a:lstStyle>
          <a:p xmlns:a="http://schemas.openxmlformats.org/drawingml/2006/main">
            <a:pPr>
              <a:defRPr sz="1050" b="0">
                <a:solidFill>
                  <a:srgbClr val="526A80"/>
                </a:solidFill>
                <a:latin typeface="DejaVu Sans"/>
                <a:ea typeface="DejaVu Sans"/>
                <a:cs typeface="DejaVu Sans"/>
              </a:defRPr>
            </a:pPr>
            <a:r>
              <a:rPr sz="1050" b="0">
                <a:solidFill>
                  <a:srgbClr val="526A80"/>
                </a:solidFill>
                <a:latin typeface="DejaVu Sans"/>
                <a:ea typeface="DejaVu Sans"/>
                <a:cs typeface="DejaVu Sans"/>
              </a:rPr>
              <a:t>12</a:t>
            </a:r>
          </a:p>
        </p:txBody>
      </p:sp>
    </p:spTree>
    <p:extLst>
      <p:ext uri="{BB962C8B-B14F-4D97-AF65-F5344CB8AC3E}">
        <p14:creationId xmlns:p14="http://schemas.microsoft.com/office/powerpoint/2010/main" val="1592244436"/>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F0E99E-9342-4BF4-B472-151AE491A0F2}"/>
              </a:ext>
            </a:extLst>
          </p:cNvPr>
          <p:cNvSpPr>
            <a:spLocks xmlns:a="http://schemas.openxmlformats.org/drawingml/2006/main" noGrp="1"/>
          </p:cNvSpPr>
          <p:nvPr/>
        </p:nvSpPr>
        <p:spPr>
          <a:xfrm xmlns:a="http://schemas.openxmlformats.org/drawingml/2006/main">
            <a:off x="771525" y="552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4344A"/>
                </a:solidFill>
                <a:latin typeface="DejaVu Sans"/>
                <a:ea typeface="DejaVu Sans"/>
                <a:cs typeface="DejaVu Sans"/>
              </a:defRPr>
            </a:defPPr>
          </a:lstStyle>
          <a:p xmlns:a="http://schemas.openxmlformats.org/drawingml/2006/main">
            <a:pPr>
              <a:defRPr sz="3150" b="1">
                <a:solidFill>
                  <a:srgbClr val="14344A"/>
                </a:solidFill>
                <a:latin typeface="DejaVu Sans"/>
                <a:ea typeface="DejaVu Sans"/>
                <a:cs typeface="DejaVu Sans"/>
              </a:defRPr>
            </a:pPr>
            <a:r>
              <a:rPr sz="3150" b="1">
                <a:solidFill>
                  <a:srgbClr val="14344A"/>
                </a:solidFill>
                <a:latin typeface="DejaVu Sans"/>
                <a:ea typeface="DejaVu Sans"/>
                <a:cs typeface="DejaVu Sans"/>
              </a:rPr>
              <a:t>SoapUI import and live verification</a:t>
            </a:r>
          </a:p>
        </p:txBody>
      </p:sp>
      <p:pic>
        <p:nvPicPr>
          <p:cNvPr id="2" name="">
            <a:extLst xmlns:a="http://schemas.openxmlformats.org/drawingml/2006/main">
              <a:ext uri="{FF2B5EF4-FFF2-40B4-BE49-F238E27FC236}">
                <a16:creationId xmlns:a16="http://schemas.microsoft.com/office/drawing/2014/main" id="{515212DB-FBC6-4D79-A1DA-45E18E4BCF43}"/>
              </a:ext>
            </a:extLst>
          </p:cNvPr>
          <p:cNvPicPr>
            <a:picLocks xmlns:a="http://schemas.openxmlformats.org/drawingml/2006/main" noChangeAspect="1"/>
          </p:cNvPicPr>
          <p:nvPr/>
        </p:nvPicPr>
        <p:blipFill>
          <a:blip xmlns:r="http://schemas.openxmlformats.org/officeDocument/2006/relationships" xmlns:a="http://schemas.openxmlformats.org/drawingml/2006/main" r:embed="R713e791dc5314737"/>
          <a:stretch xmlns:a="http://schemas.openxmlformats.org/drawingml/2006/main"/>
        </p:blipFill>
        <p:spPr>
          <a:xfrm xmlns:a="http://schemas.openxmlformats.org/drawingml/2006/main">
            <a:off x="1047750" y="1428750"/>
            <a:ext cx="2381250" cy="4762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7006E37-8F07-40AF-B7D1-0AAB946B5C62}"/>
              </a:ext>
            </a:extLst>
          </p:cNvPr>
          <p:cNvSpPr>
            <a:spLocks xmlns:a="http://schemas.openxmlformats.org/drawingml/2006/main" noGrp="1"/>
          </p:cNvSpPr>
          <p:nvPr/>
        </p:nvSpPr>
        <p:spPr>
          <a:xfrm xmlns:a="http://schemas.openxmlformats.org/drawingml/2006/main">
            <a:off x="4191000" y="1581150"/>
            <a:ext cx="695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00878C"/>
                </a:solidFill>
                <a:latin typeface="DejaVu Sans"/>
                <a:ea typeface="DejaVu Sans"/>
                <a:cs typeface="DejaVu Sans"/>
              </a:defRPr>
            </a:defPPr>
          </a:lstStyle>
          <a:p xmlns:a="http://schemas.openxmlformats.org/drawingml/2006/main">
            <a:pPr>
              <a:defRPr sz="1950" b="1">
                <a:solidFill>
                  <a:srgbClr val="00878C"/>
                </a:solidFill>
                <a:latin typeface="DejaVu Sans"/>
                <a:ea typeface="DejaVu Sans"/>
                <a:cs typeface="DejaVu Sans"/>
              </a:defRPr>
            </a:pPr>
            <a:r>
              <a:rPr sz="1950" b="1">
                <a:solidFill>
                  <a:srgbClr val="00878C"/>
                </a:solidFill>
                <a:latin typeface="DejaVu Sans"/>
                <a:ea typeface="DejaVu Sans"/>
                <a:cs typeface="DejaVu Sans"/>
              </a:rPr>
              <a:t>Imported assessment WSDL</a:t>
            </a:r>
          </a:p>
        </p:txBody>
      </p:sp>
      <p:sp>
        <p:nvSpPr>
          <p:cNvPr id="4" name="">
            <a:extLst xmlns:a="http://schemas.openxmlformats.org/drawingml/2006/main">
              <a:ext uri="{FF2B5EF4-FFF2-40B4-BE49-F238E27FC236}">
                <a16:creationId xmlns:a16="http://schemas.microsoft.com/office/drawing/2014/main" id="{D4F814D5-C2D4-464C-BB75-50059DCA7400}"/>
              </a:ext>
            </a:extLst>
          </p:cNvPr>
          <p:cNvSpPr>
            <a:spLocks xmlns:a="http://schemas.openxmlformats.org/drawingml/2006/main" noGrp="1"/>
          </p:cNvSpPr>
          <p:nvPr/>
        </p:nvSpPr>
        <p:spPr>
          <a:xfrm xmlns:a="http://schemas.openxmlformats.org/drawingml/2006/main">
            <a:off x="4191000" y="2009775"/>
            <a:ext cx="695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344A"/>
                </a:solidFill>
                <a:latin typeface="DejaVu Sans"/>
                <a:ea typeface="DejaVu Sans"/>
                <a:cs typeface="DejaVu Sans"/>
              </a:defRPr>
            </a:defPPr>
          </a:lstStyle>
          <a:p xmlns:a="http://schemas.openxmlformats.org/drawingml/2006/main">
            <a:pPr>
              <a:defRPr sz="1950" b="0">
                <a:solidFill>
                  <a:srgbClr val="14344A"/>
                </a:solidFill>
                <a:latin typeface="DejaVu Sans"/>
                <a:ea typeface="DejaVu Sans"/>
                <a:cs typeface="DejaVu Sans"/>
              </a:defRPr>
            </a:pPr>
            <a:r>
              <a:rPr sz="1950" b="0">
                <a:solidFill>
                  <a:srgbClr val="14344A"/>
                </a:solidFill>
                <a:latin typeface="DejaVu Sans"/>
                <a:ea typeface="DejaVu Sans"/>
                <a:cs typeface="DejaVu Sans"/>
              </a:rPr>
              <a:t>SoapUI 5.10.0 imported both SOAP bindings, with 21 operations in each. The saved project is included in docs/soapui.</a:t>
            </a:r>
          </a:p>
        </p:txBody>
      </p:sp>
      <p:sp>
        <p:nvSpPr>
          <p:cNvPr id="5" name="">
            <a:extLst xmlns:a="http://schemas.openxmlformats.org/drawingml/2006/main">
              <a:ext uri="{FF2B5EF4-FFF2-40B4-BE49-F238E27FC236}">
                <a16:creationId xmlns:a16="http://schemas.microsoft.com/office/drawing/2014/main" id="{E9DF92C4-10BE-41B0-85B8-101392377C5D}"/>
              </a:ext>
            </a:extLst>
          </p:cNvPr>
          <p:cNvSpPr>
            <a:spLocks xmlns:a="http://schemas.openxmlformats.org/drawingml/2006/main" noGrp="1"/>
          </p:cNvSpPr>
          <p:nvPr/>
        </p:nvSpPr>
        <p:spPr>
          <a:xfrm xmlns:a="http://schemas.openxmlformats.org/drawingml/2006/main">
            <a:off x="4191000" y="3314700"/>
            <a:ext cx="695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00878C"/>
                </a:solidFill>
                <a:latin typeface="DejaVu Sans"/>
                <a:ea typeface="DejaVu Sans"/>
                <a:cs typeface="DejaVu Sans"/>
              </a:defRPr>
            </a:defPPr>
          </a:lstStyle>
          <a:p xmlns:a="http://schemas.openxmlformats.org/drawingml/2006/main">
            <a:pPr>
              <a:defRPr sz="1950" b="1">
                <a:solidFill>
                  <a:srgbClr val="00878C"/>
                </a:solidFill>
                <a:latin typeface="DejaVu Sans"/>
                <a:ea typeface="DejaVu Sans"/>
                <a:cs typeface="DejaVu Sans"/>
              </a:defRPr>
            </a:pPr>
            <a:r>
              <a:rPr sz="1950" b="1">
                <a:solidFill>
                  <a:srgbClr val="00878C"/>
                </a:solidFill>
                <a:latin typeface="DejaVu Sans"/>
                <a:ea typeface="DejaVu Sans"/>
                <a:cs typeface="DejaVu Sans"/>
              </a:rPr>
              <a:t>Live request assertions</a:t>
            </a:r>
          </a:p>
        </p:txBody>
      </p:sp>
      <p:sp>
        <p:nvSpPr>
          <p:cNvPr id="6" name="">
            <a:extLst xmlns:a="http://schemas.openxmlformats.org/drawingml/2006/main">
              <a:ext uri="{FF2B5EF4-FFF2-40B4-BE49-F238E27FC236}">
                <a16:creationId xmlns:a16="http://schemas.microsoft.com/office/drawing/2014/main" id="{259578C8-7EE7-499C-867C-3BD7715EEAE1}"/>
              </a:ext>
            </a:extLst>
          </p:cNvPr>
          <p:cNvSpPr>
            <a:spLocks xmlns:a="http://schemas.openxmlformats.org/drawingml/2006/main" noGrp="1"/>
          </p:cNvSpPr>
          <p:nvPr/>
        </p:nvSpPr>
        <p:spPr>
          <a:xfrm xmlns:a="http://schemas.openxmlformats.org/drawingml/2006/main">
            <a:off x="4191000" y="3743325"/>
            <a:ext cx="695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344A"/>
                </a:solidFill>
                <a:latin typeface="DejaVu Sans"/>
                <a:ea typeface="DejaVu Sans"/>
                <a:cs typeface="DejaVu Sans"/>
              </a:defRPr>
            </a:defPPr>
          </a:lstStyle>
          <a:p xmlns:a="http://schemas.openxmlformats.org/drawingml/2006/main">
            <a:pPr>
              <a:defRPr sz="1950" b="0">
                <a:solidFill>
                  <a:srgbClr val="14344A"/>
                </a:solidFill>
                <a:latin typeface="DejaVu Sans"/>
                <a:ea typeface="DejaVu Sans"/>
                <a:cs typeface="DejaVu Sans"/>
              </a:defRPr>
            </a:pPr>
            <a:r>
              <a:rPr sz="1950" b="0">
                <a:solidFill>
                  <a:srgbClr val="14344A"/>
                </a:solidFill>
                <a:latin typeface="DejaVu Sans"/>
                <a:ea typeface="DejaVu Sans"/>
                <a:cs typeface="DejaVu Sans"/>
              </a:rPr>
              <a:t>Tanzania resolves to TZ; FullCountryInfo returns Tanzania. South Africa resolves to ZA. Three test cases, nine assertions.</a:t>
            </a:r>
          </a:p>
        </p:txBody>
      </p:sp>
      <p:sp>
        <p:nvSpPr>
          <p:cNvPr id="7" name="">
            <a:extLst xmlns:a="http://schemas.openxmlformats.org/drawingml/2006/main">
              <a:ext uri="{FF2B5EF4-FFF2-40B4-BE49-F238E27FC236}">
                <a16:creationId xmlns:a16="http://schemas.microsoft.com/office/drawing/2014/main" id="{5EF3AB0C-4B11-4826-BEB0-307075D92223}"/>
              </a:ext>
            </a:extLst>
          </p:cNvPr>
          <p:cNvSpPr>
            <a:spLocks xmlns:a="http://schemas.openxmlformats.org/drawingml/2006/main" noGrp="1"/>
          </p:cNvSpPr>
          <p:nvPr/>
        </p:nvSpPr>
        <p:spPr>
          <a:xfrm xmlns:a="http://schemas.openxmlformats.org/drawingml/2006/main">
            <a:off x="4191000" y="4981575"/>
            <a:ext cx="695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00878C"/>
                </a:solidFill>
                <a:latin typeface="DejaVu Sans"/>
                <a:ea typeface="DejaVu Sans"/>
                <a:cs typeface="DejaVu Sans"/>
              </a:defRPr>
            </a:defPPr>
          </a:lstStyle>
          <a:p xmlns:a="http://schemas.openxmlformats.org/drawingml/2006/main">
            <a:pPr>
              <a:defRPr sz="1950" b="1">
                <a:solidFill>
                  <a:srgbClr val="00878C"/>
                </a:solidFill>
                <a:latin typeface="DejaVu Sans"/>
                <a:ea typeface="DejaVu Sans"/>
                <a:cs typeface="DejaVu Sans"/>
              </a:defRPr>
            </a:pPr>
            <a:r>
              <a:rPr sz="1950" b="1">
                <a:solidFill>
                  <a:srgbClr val="00878C"/>
                </a:solidFill>
                <a:latin typeface="DejaVu Sans"/>
                <a:ea typeface="DejaVu Sans"/>
                <a:cs typeface="DejaVu Sans"/>
              </a:rPr>
              <a:t>Reproducible evidence</a:t>
            </a:r>
          </a:p>
        </p:txBody>
      </p:sp>
      <p:sp>
        <p:nvSpPr>
          <p:cNvPr id="8" name="">
            <a:extLst xmlns:a="http://schemas.openxmlformats.org/drawingml/2006/main">
              <a:ext uri="{FF2B5EF4-FFF2-40B4-BE49-F238E27FC236}">
                <a16:creationId xmlns:a16="http://schemas.microsoft.com/office/drawing/2014/main" id="{4B3A2F93-48B3-4D57-9B74-D46109DB7A55}"/>
              </a:ext>
            </a:extLst>
          </p:cNvPr>
          <p:cNvSpPr>
            <a:spLocks xmlns:a="http://schemas.openxmlformats.org/drawingml/2006/main" noGrp="1"/>
          </p:cNvSpPr>
          <p:nvPr/>
        </p:nvSpPr>
        <p:spPr>
          <a:xfrm xmlns:a="http://schemas.openxmlformats.org/drawingml/2006/main">
            <a:off x="4191000" y="5410200"/>
            <a:ext cx="695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344A"/>
                </a:solidFill>
                <a:latin typeface="DejaVu Sans"/>
                <a:ea typeface="DejaVu Sans"/>
                <a:cs typeface="DejaVu Sans"/>
              </a:defRPr>
            </a:defPPr>
          </a:lstStyle>
          <a:p xmlns:a="http://schemas.openxmlformats.org/drawingml/2006/main">
            <a:pPr>
              <a:defRPr sz="1950" b="0">
                <a:solidFill>
                  <a:srgbClr val="14344A"/>
                </a:solidFill>
                <a:latin typeface="DejaVu Sans"/>
                <a:ea typeface="DejaVu Sans"/>
                <a:cs typeface="DejaVu Sans"/>
              </a:defRPr>
            </a:pPr>
            <a:r>
              <a:rPr sz="1950" b="0">
                <a:solidFill>
                  <a:srgbClr val="14344A"/>
                </a:solidFill>
                <a:latin typeface="DejaVu Sans"/>
                <a:ea typeface="DejaVu Sans"/>
                <a:cs typeface="DejaVu Sans"/>
              </a:rPr>
              <a:t>Run scripts/test-soapui.sh. Request/response samples, test results, and this import screenshot accompany the project.</a:t>
            </a:r>
          </a:p>
        </p:txBody>
      </p:sp>
      <p:sp>
        <p:nvSpPr>
          <p:cNvPr id="9" name="">
            <a:extLst xmlns:a="http://schemas.openxmlformats.org/drawingml/2006/main">
              <a:ext uri="{FF2B5EF4-FFF2-40B4-BE49-F238E27FC236}">
                <a16:creationId xmlns:a16="http://schemas.microsoft.com/office/drawing/2014/main" id="{1B62252B-758F-4AC0-9878-4364C5135041}"/>
              </a:ext>
            </a:extLst>
          </p:cNvPr>
          <p:cNvSpPr>
            <a:spLocks xmlns:a="http://schemas.openxmlformats.org/drawingml/2006/main" noGrp="1"/>
          </p:cNvSpPr>
          <p:nvPr/>
        </p:nvSpPr>
        <p:spPr>
          <a:xfrm xmlns:a="http://schemas.openxmlformats.org/drawingml/2006/main">
            <a:off x="771525" y="63817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526A80"/>
                </a:solidFill>
                <a:latin typeface="DejaVu Sans"/>
                <a:ea typeface="DejaVu Sans"/>
                <a:cs typeface="DejaVu Sans"/>
              </a:defRPr>
            </a:defPPr>
          </a:lstStyle>
          <a:p xmlns:a="http://schemas.openxmlformats.org/drawingml/2006/main">
            <a:pPr>
              <a:defRPr sz="1050" b="0">
                <a:solidFill>
                  <a:srgbClr val="526A80"/>
                </a:solidFill>
                <a:latin typeface="DejaVu Sans"/>
                <a:ea typeface="DejaVu Sans"/>
                <a:cs typeface="DejaVu Sans"/>
              </a:defRPr>
            </a:pPr>
            <a:r>
              <a:rPr sz="1050" b="0">
                <a:solidFill>
                  <a:srgbClr val="526A80"/>
                </a:solidFill>
                <a:latin typeface="DejaVu Sans"/>
                <a:ea typeface="DejaVu Sans"/>
                <a:cs typeface="DejaVu Sans"/>
              </a:rPr>
              <a:t>Samuel Mutua Kimani, 9 October 2026</a:t>
            </a:r>
          </a:p>
        </p:txBody>
      </p:sp>
      <p:sp>
        <p:nvSpPr>
          <p:cNvPr id="10" name="">
            <a:extLst xmlns:a="http://schemas.openxmlformats.org/drawingml/2006/main">
              <a:ext uri="{FF2B5EF4-FFF2-40B4-BE49-F238E27FC236}">
                <a16:creationId xmlns:a16="http://schemas.microsoft.com/office/drawing/2014/main" id="{1E04005A-0019-4FC5-B939-E7E98B775F29}"/>
              </a:ext>
            </a:extLst>
          </p:cNvPr>
          <p:cNvSpPr>
            <a:spLocks xmlns:a="http://schemas.openxmlformats.org/drawingml/2006/main" noGrp="1"/>
          </p:cNvSpPr>
          <p:nvPr/>
        </p:nvSpPr>
        <p:spPr>
          <a:xfrm xmlns:a="http://schemas.openxmlformats.org/drawingml/2006/main">
            <a:off x="11229975" y="6381750"/>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526A80"/>
                </a:solidFill>
                <a:latin typeface="DejaVu Sans"/>
                <a:ea typeface="DejaVu Sans"/>
                <a:cs typeface="DejaVu Sans"/>
              </a:defRPr>
            </a:defPPr>
          </a:lstStyle>
          <a:p xmlns:a="http://schemas.openxmlformats.org/drawingml/2006/main">
            <a:pPr>
              <a:defRPr sz="1050" b="0">
                <a:solidFill>
                  <a:srgbClr val="526A80"/>
                </a:solidFill>
                <a:latin typeface="DejaVu Sans"/>
                <a:ea typeface="DejaVu Sans"/>
                <a:cs typeface="DejaVu Sans"/>
              </a:defRPr>
            </a:pPr>
            <a:r>
              <a:rPr sz="1050" b="0">
                <a:solidFill>
                  <a:srgbClr val="526A80"/>
                </a:solidFill>
                <a:latin typeface="DejaVu Sans"/>
                <a:ea typeface="DejaVu Sans"/>
                <a:cs typeface="DejaVu Sans"/>
              </a:rPr>
              <a:t>13</a:t>
            </a:r>
          </a:p>
        </p:txBody>
      </p:sp>
    </p:spTree>
    <p:extLst>
      <p:ext uri="{BB962C8B-B14F-4D97-AF65-F5344CB8AC3E}">
        <p14:creationId xmlns:p14="http://schemas.microsoft.com/office/powerpoint/2010/main" val="10869288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2026-10-09T06:49:12.0600000Z</dcterms:created>
  <dcterms:modified xsi:type="dcterms:W3CDTF">2026-10-09T06:49:12.0600000Z</dcterms:modified>
</coreProperties>
</file>