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155b0ca07d4ad2" /><Relationship Type="http://schemas.openxmlformats.org/officeDocument/2006/relationships/extended-properties" Target="/docProps/app.xml" Id="R942b7146969a4819" /><Relationship Type="http://schemas.openxmlformats.org/officeDocument/2006/relationships/officeDocument" Target="/ppt/presentation.xml" Id="R53f91e0f38a842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a3bd529c054326"/>
  </p:sldMasterIdLst>
  <p:notesMasterIdLst>
    <p:notesMasterId xmlns:r="http://schemas.openxmlformats.org/officeDocument/2006/relationships" r:id="R6c9f0f5d8ab442b5"/>
  </p:notesMasterIdLst>
  <p:sldIdLst>
    <p:sldId xmlns:r="http://schemas.openxmlformats.org/officeDocument/2006/relationships" id="256" r:id="Rd4e42b1ef4224582"/>
    <p:sldId xmlns:r="http://schemas.openxmlformats.org/officeDocument/2006/relationships" id="257" r:id="Rd1fb9016f49f4e48"/>
    <p:sldId xmlns:r="http://schemas.openxmlformats.org/officeDocument/2006/relationships" id="258" r:id="R7272f799526e4c84"/>
    <p:sldId xmlns:r="http://schemas.openxmlformats.org/officeDocument/2006/relationships" id="259" r:id="R888af294fa2442a3"/>
    <p:sldId xmlns:r="http://schemas.openxmlformats.org/officeDocument/2006/relationships" id="260" r:id="Rf400bb477baa4662"/>
    <p:sldId xmlns:r="http://schemas.openxmlformats.org/officeDocument/2006/relationships" id="261" r:id="R3df2b2c3022243d1"/>
    <p:sldId xmlns:r="http://schemas.openxmlformats.org/officeDocument/2006/relationships" id="262" r:id="Rf95441df0a184875"/>
    <p:sldId xmlns:r="http://schemas.openxmlformats.org/officeDocument/2006/relationships" id="263" r:id="R036cd3c74d4d4f46"/>
    <p:sldId xmlns:r="http://schemas.openxmlformats.org/officeDocument/2006/relationships" id="264" r:id="R472f6254c79248c1"/>
    <p:sldId xmlns:r="http://schemas.openxmlformats.org/officeDocument/2006/relationships" id="265" r:id="Rf9a32ff648a14def"/>
    <p:sldId xmlns:r="http://schemas.openxmlformats.org/officeDocument/2006/relationships" id="266" r:id="Re4841a880a7c4e15"/>
    <p:sldId xmlns:r="http://schemas.openxmlformats.org/officeDocument/2006/relationships" id="267" r:id="R9b12933bef1b4a35"/>
    <p:sldId xmlns:r="http://schemas.openxmlformats.org/officeDocument/2006/relationships" id="268" r:id="R9df62817478744a5"/>
    <p:sldId xmlns:r="http://schemas.openxmlformats.org/officeDocument/2006/relationships" id="269" r:id="Rb74139c42fa04244"/>
    <p:sldId xmlns:r="http://schemas.openxmlformats.org/officeDocument/2006/relationships" id="270" r:id="R3fe3af0c288a4edf"/>
    <p:sldId xmlns:r="http://schemas.openxmlformats.org/officeDocument/2006/relationships" id="271" r:id="Re85cfc39d7f6432c"/>
    <p:sldId xmlns:r="http://schemas.openxmlformats.org/officeDocument/2006/relationships" id="272" r:id="R171d5bea9cc7497e"/>
    <p:sldId xmlns:r="http://schemas.openxmlformats.org/officeDocument/2006/relationships" id="273" r:id="R1bcb5bce0e3448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fd02ad567d409d" /><Relationship Type="http://schemas.openxmlformats.org/officeDocument/2006/relationships/slideMaster" Target="/ppt/slideMasters/slideMaster1.xml" Id="R2ea3bd529c054326" /><Relationship Type="http://schemas.openxmlformats.org/officeDocument/2006/relationships/notesMaster" Target="/ppt/notesMasters/notesMaster1.xml" Id="R6c9f0f5d8ab442b5" /><Relationship Type="http://schemas.openxmlformats.org/officeDocument/2006/relationships/presProps" Target="/ppt/presProps.xml" Id="R4804569aa1fb48e7" /><Relationship Type="http://schemas.openxmlformats.org/officeDocument/2006/relationships/tableStyles" Target="/ppt/tableStyles.xml" Id="R845c3ffedd0e4e8e" /><Relationship Type="http://schemas.openxmlformats.org/officeDocument/2006/relationships/slide" Target="/ppt/slides/slide1.xml" Id="Rd4e42b1ef4224582" /><Relationship Type="http://schemas.openxmlformats.org/officeDocument/2006/relationships/slide" Target="/ppt/slides/slide2.xml" Id="Rd1fb9016f49f4e48" /><Relationship Type="http://schemas.openxmlformats.org/officeDocument/2006/relationships/slide" Target="/ppt/slides/slide3.xml" Id="R7272f799526e4c84" /><Relationship Type="http://schemas.openxmlformats.org/officeDocument/2006/relationships/slide" Target="/ppt/slides/slide4.xml" Id="R888af294fa2442a3" /><Relationship Type="http://schemas.openxmlformats.org/officeDocument/2006/relationships/slide" Target="/ppt/slides/slide5.xml" Id="Rf400bb477baa4662" /><Relationship Type="http://schemas.openxmlformats.org/officeDocument/2006/relationships/slide" Target="/ppt/slides/slide6.xml" Id="R3df2b2c3022243d1" /><Relationship Type="http://schemas.openxmlformats.org/officeDocument/2006/relationships/slide" Target="/ppt/slides/slide7.xml" Id="Rf95441df0a184875" /><Relationship Type="http://schemas.openxmlformats.org/officeDocument/2006/relationships/slide" Target="/ppt/slides/slide8.xml" Id="R036cd3c74d4d4f46" /><Relationship Type="http://schemas.openxmlformats.org/officeDocument/2006/relationships/slide" Target="/ppt/slides/slide9.xml" Id="R472f6254c79248c1" /><Relationship Type="http://schemas.openxmlformats.org/officeDocument/2006/relationships/slide" Target="/ppt/slides/slide10.xml" Id="Rf9a32ff648a14def" /><Relationship Type="http://schemas.openxmlformats.org/officeDocument/2006/relationships/slide" Target="/ppt/slides/slide11.xml" Id="Re4841a880a7c4e15" /><Relationship Type="http://schemas.openxmlformats.org/officeDocument/2006/relationships/slide" Target="/ppt/slides/slide12.xml" Id="R9b12933bef1b4a35" /><Relationship Type="http://schemas.openxmlformats.org/officeDocument/2006/relationships/slide" Target="/ppt/slides/slide13.xml" Id="R9df62817478744a5" /><Relationship Type="http://schemas.openxmlformats.org/officeDocument/2006/relationships/slide" Target="/ppt/slides/slide14.xml" Id="Rb74139c42fa04244" /><Relationship Type="http://schemas.openxmlformats.org/officeDocument/2006/relationships/slide" Target="/ppt/slides/slide15.xml" Id="R3fe3af0c288a4edf" /><Relationship Type="http://schemas.openxmlformats.org/officeDocument/2006/relationships/slide" Target="/ppt/slides/slide16.xml" Id="Re85cfc39d7f6432c" /><Relationship Type="http://schemas.openxmlformats.org/officeDocument/2006/relationships/slide" Target="/ppt/slides/slide17.xml" Id="R171d5bea9cc7497e" /><Relationship Type="http://schemas.openxmlformats.org/officeDocument/2006/relationships/slide" Target="/ppt/slides/slide18.xml" Id="R1bcb5bce0e3448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534027d80d49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5f1c83181a42cb" /><Relationship Type="http://schemas.openxmlformats.org/officeDocument/2006/relationships/notesMaster" Target="/ppt/notesMasters/notesMaster1.xml" Id="Rfc273ddc7f8044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2eb9cd8e734a03" /><Relationship Type="http://schemas.openxmlformats.org/officeDocument/2006/relationships/notesMaster" Target="/ppt/notesMasters/notesMaster1.xml" Id="R8b0551e8dcbc41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9010ef27064c5d" /><Relationship Type="http://schemas.openxmlformats.org/officeDocument/2006/relationships/notesMaster" Target="/ppt/notesMasters/notesMaster1.xml" Id="R7a9e7a9a485341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4e4277c3af4818" /><Relationship Type="http://schemas.openxmlformats.org/officeDocument/2006/relationships/notesMaster" Target="/ppt/notesMasters/notesMaster1.xml" Id="Rf9c78559411a4d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b40c38d89d4a4e" /><Relationship Type="http://schemas.openxmlformats.org/officeDocument/2006/relationships/notesMaster" Target="/ppt/notesMasters/notesMaster1.xml" Id="R088f1b5d08fd42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963efbc91c440b" /><Relationship Type="http://schemas.openxmlformats.org/officeDocument/2006/relationships/notesMaster" Target="/ppt/notesMasters/notesMaster1.xml" Id="R3c01ca7ddba145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2ac0f867874993" /><Relationship Type="http://schemas.openxmlformats.org/officeDocument/2006/relationships/notesMaster" Target="/ppt/notesMasters/notesMaster1.xml" Id="Rd8301918e0b244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7958dedfad46a0" /><Relationship Type="http://schemas.openxmlformats.org/officeDocument/2006/relationships/notesMaster" Target="/ppt/notesMasters/notesMaster1.xml" Id="Rd60fc925dcdf43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b606a9388d4ea9" /><Relationship Type="http://schemas.openxmlformats.org/officeDocument/2006/relationships/notesMaster" Target="/ppt/notesMasters/notesMaster1.xml" Id="Rfdd7104367284f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40797293b941aa" /><Relationship Type="http://schemas.openxmlformats.org/officeDocument/2006/relationships/notesMaster" Target="/ppt/notesMasters/notesMaster1.xml" Id="Rbf55c626f25548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9b273339774b63" /><Relationship Type="http://schemas.openxmlformats.org/officeDocument/2006/relationships/notesMaster" Target="/ppt/notesMasters/notesMaster1.xml" Id="R8b76c5e7869349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aea6496c744c8f" /><Relationship Type="http://schemas.openxmlformats.org/officeDocument/2006/relationships/notesMaster" Target="/ppt/notesMasters/notesMaster1.xml" Id="Ree648212e0cf48a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8be38639b7744ac" /><Relationship Type="http://schemas.openxmlformats.org/officeDocument/2006/relationships/notesMaster" Target="/ppt/notesMasters/notesMaster1.xml" Id="Re3a4f4ea8b1443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23dfd1172ac4bd0" /><Relationship Type="http://schemas.openxmlformats.org/officeDocument/2006/relationships/notesMaster" Target="/ppt/notesMasters/notesMaster1.xml" Id="Rc84ed4c2561c481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e805673e5e141df" /><Relationship Type="http://schemas.openxmlformats.org/officeDocument/2006/relationships/notesMaster" Target="/ppt/notesMasters/notesMaster1.xml" Id="R5f4d9ee56dc24b8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7c07b952ab5402f" /><Relationship Type="http://schemas.openxmlformats.org/officeDocument/2006/relationships/notesMaster" Target="/ppt/notesMasters/notesMaster1.xml" Id="Re3168e98487441c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1b150edc6b84a83" /><Relationship Type="http://schemas.openxmlformats.org/officeDocument/2006/relationships/notesMaster" Target="/ppt/notesMasters/notesMaster1.xml" Id="Rb24500c30f794f3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637062cfd8845b6" /><Relationship Type="http://schemas.openxmlformats.org/officeDocument/2006/relationships/notesMaster" Target="/ppt/notesMasters/notesMaster1.xml" Id="R70e1491c56284f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submission. Questions 1–10 follow in order; implementation evidence and production boundaries follow. Original brief and invitation reviewed locally. Deadline: 9 October 2026, 15:00 EAT.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pom.xml, application.properties, Dockerfile. Java 25 / Spring Boot 4.1.1 dependencies resolved in clean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actual imported-operation tree cropped from docs/soapui/soapui-import.png; docs/soapui/results/CountryInfo_smoke_tests-CountryISOCode__Tanzania-CountryISOCode-0-OK.txt and saved project. XML fragments below are extracted evidence, not a recreated screenshot. Native app capture failed with window/accessibility errors; full-window request screenshot is not included. Three cases and nine actual runner assertions passed.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CountryController, CreateCountryRequest, CountryService and service/controller tests. The first provider request remains sentence case as requested.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CountryService.resolveIsoCode, CountrySoapClient.findCanonicalCountryName, regression tests and docs/evidence/kubernetes-verification.json. Live imports GW/PG/MD returned 201.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CountrySoapClient, CountryService, CountryInfo/Language entities; SOAP parsing tests; live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model/CountryInfo.java, model/Language.java, dto/CreateCountryRequest.java, dto/UpdateCountryRequest.java; H2/MySQL persistence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CountryController/CountryService/CountryRepository. The collection response is still a JSON array; pages fetch countries first then selected relationships.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scripts/deploy.sh, scripts/image-tag.py, k8s/app.yaml, k8s/mysql.yaml. Docker Desktop exercised; other platform branches are supplied but unverified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and docs/DEPLOYMENT.md. Default tests need host Java 25; Docker builds compile without host Java. Existing-schema baseline must follow a private backup.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docs/DEPLOYMENT.md and scripts/backup-db.sh. Never print Secret values or delete data volumes to bypass startup errors.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actual source layers, k8s Service/Deployment/MySQL; docs/REQUIREMENTS.md. These components are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docs/evidence/load-results.json. 200 GET requests from a temporary Python pod to internal ClusterIP Service, concurrency eight. 8 GB Mac, about 4 GB Docker allocation; one node, two app replicas, one MySQL. Desktop/monitoring shared resources. No maximum capacity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SoapTransport, GlobalExceptionHandler, service/failure/transport tests. SOAP budget excludes servlet scheduling and database operations. Parsing faults occur outside the transport circuit.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RequestLoggingFilter, CountryService, application.properties, k8s/optional/monitoring.yaml, docs/evidence/monitoring-verification.json. Evaluated alert rules have no external notification destinations.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docs/TEST_RESULTS.md, docs/evidence/test-results.json and sanitized JUnit exports. Clean full run finished 9 October at 12:53:43 EAT. No failures/errors/skips. Hosted CI tests and Docker build must be checked for final pushed commit.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docs/evidence/kubernetes-verification.json, monitoring-verification.json, load-results.json. Fresh source image build-b3d64cbfb5ab61f8; both replicas and MySQL ready without restarts. Legacy schema baselined explicitly then flag disabled; KE/TZ/ZA data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brief/invitation, docs/REQUIREMENTS.md, deployment/test/evidence files. Repository URL is public; package prepared for reply by 15:00 EAT on 9 October 2026. Email is not sent by preparation.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ad9bfc635e445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b77d826c584c3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eefdee305f4d6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b1aac744b0497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6cfd65f4f54ce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8b4888795849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9A1FC5-DCAC-4CE5-9FEA-63E21D6256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74B1BC8-FD2E-4552-8EFB-FC6BAC76E8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FC6B530-F4A8-4853-A8CE-43531EE07D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5711F5-8AE0-4B79-A492-2464E28A3E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2299AEC-05A2-4604-A538-2841D33C86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63497E-8F0B-4C16-9008-180BFCECE6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2E28C4-E5DA-4154-A68F-5E2DE596AB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5BEEFE4-30C6-4DF2-AEB7-920ED2B805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5E24CE-7C8E-4C55-8AF8-AD3B14528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1BB714-2298-493D-8C2F-F146D8B0F2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49820187894c6a" /><Relationship Type="http://schemas.openxmlformats.org/officeDocument/2006/relationships/slideLayout" Target="/ppt/slideLayouts/slideLayout1.xml" Id="R02da1da29c574a6c" /><Relationship Type="http://schemas.openxmlformats.org/officeDocument/2006/relationships/slideLayout" Target="/ppt/slideLayouts/slideLayout2.xml" Id="R69530f2cfb74454a" /><Relationship Type="http://schemas.openxmlformats.org/officeDocument/2006/relationships/slideLayout" Target="/ppt/slideLayouts/slideLayout3.xml" Id="R8b39207c627044e0" /><Relationship Type="http://schemas.openxmlformats.org/officeDocument/2006/relationships/slideLayout" Target="/ppt/slideLayouts/slideLayout4.xml" Id="R8b3404ed250b4126" /><Relationship Type="http://schemas.openxmlformats.org/officeDocument/2006/relationships/slideLayout" Target="/ppt/slideLayouts/slideLayout5.xml" Id="R03bb4ed78bda4182" /><Relationship Type="http://schemas.openxmlformats.org/officeDocument/2006/relationships/slideLayout" Target="/ppt/slideLayouts/slideLayout6.xml" Id="R548da1f4d28d47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da1da29c574a6c"/>
    <p:sldLayoutId xmlns:r="http://schemas.openxmlformats.org/officeDocument/2006/relationships" id="2147483650" r:id="R69530f2cfb74454a"/>
    <p:sldLayoutId xmlns:r="http://schemas.openxmlformats.org/officeDocument/2006/relationships" id="2147483651" r:id="R8b39207c627044e0"/>
    <p:sldLayoutId xmlns:r="http://schemas.openxmlformats.org/officeDocument/2006/relationships" id="2147483652" r:id="R8b3404ed250b4126"/>
    <p:sldLayoutId xmlns:r="http://schemas.openxmlformats.org/officeDocument/2006/relationships" id="2147483653" r:id="R03bb4ed78bda4182"/>
    <p:sldLayoutId xmlns:r="http://schemas.openxmlformats.org/officeDocument/2006/relationships" id="2147483654" r:id="R548da1f4d28d47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bf24e6c4044c20" /><Relationship Type="http://schemas.openxmlformats.org/officeDocument/2006/relationships/notesSlide" Target="/ppt/notesSlides/notesSlide1.xml" Id="Rca357a4ce7f340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1a5d481eb54e02" /><Relationship Type="http://schemas.openxmlformats.org/officeDocument/2006/relationships/notesSlide" Target="/ppt/notesSlides/notesSlide2.xml" Id="Re653f821acf64f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4570282fda44e3" /><Relationship Type="http://schemas.openxmlformats.org/officeDocument/2006/relationships/image" Target="/ppt/media/image.png" Id="R1276b5ae90ee4fd6" /><Relationship Type="http://schemas.openxmlformats.org/officeDocument/2006/relationships/notesSlide" Target="/ppt/notesSlides/notesSlide3.xml" Id="Rd17d0188302741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cf1e767f4d452b" /><Relationship Type="http://schemas.openxmlformats.org/officeDocument/2006/relationships/notesSlide" Target="/ppt/notesSlides/notesSlide4.xml" Id="R179f5ea2d3da47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82da157ec3469c" /><Relationship Type="http://schemas.openxmlformats.org/officeDocument/2006/relationships/notesSlide" Target="/ppt/notesSlides/notesSlide5.xml" Id="Rcc70f37016804b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844ac35fd14de3" /><Relationship Type="http://schemas.openxmlformats.org/officeDocument/2006/relationships/notesSlide" Target="/ppt/notesSlides/notesSlide6.xml" Id="R8732e84d454944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afa94785524ffe" /><Relationship Type="http://schemas.openxmlformats.org/officeDocument/2006/relationships/notesSlide" Target="/ppt/notesSlides/notesSlide7.xml" Id="R6662275ba2ff4e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064ccee8c34317" /><Relationship Type="http://schemas.openxmlformats.org/officeDocument/2006/relationships/notesSlide" Target="/ppt/notesSlides/notesSlide8.xml" Id="R44d8552bec7a48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9993d0cfdc4351" /><Relationship Type="http://schemas.openxmlformats.org/officeDocument/2006/relationships/notesSlide" Target="/ppt/notesSlides/notesSlide9.xml" Id="Raebf9a2057594e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ed478f150b454b" /><Relationship Type="http://schemas.openxmlformats.org/officeDocument/2006/relationships/notesSlide" Target="/ppt/notesSlides/notesSlide10.xml" Id="R04a96d266ed649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ca6dffe4234572" /><Relationship Type="http://schemas.openxmlformats.org/officeDocument/2006/relationships/notesSlide" Target="/ppt/notesSlides/notesSlide11.xml" Id="Rff3eb23558c349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9a7a80557f4523" /><Relationship Type="http://schemas.openxmlformats.org/officeDocument/2006/relationships/notesSlide" Target="/ppt/notesSlides/notesSlide12.xml" Id="R6a9804addad1455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d70ab0983a4be7" /><Relationship Type="http://schemas.openxmlformats.org/officeDocument/2006/relationships/notesSlide" Target="/ppt/notesSlides/notesSlide13.xml" Id="R27c62af12b424c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623321c0ae46c3" /><Relationship Type="http://schemas.openxmlformats.org/officeDocument/2006/relationships/notesSlide" Target="/ppt/notesSlides/notesSlide14.xml" Id="R91f8c47acb66454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23caeb8cc84760" /><Relationship Type="http://schemas.openxmlformats.org/officeDocument/2006/relationships/notesSlide" Target="/ppt/notesSlides/notesSlide15.xml" Id="R2ebaf60e7a0c4f9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79d62189564cf1" /><Relationship Type="http://schemas.openxmlformats.org/officeDocument/2006/relationships/notesSlide" Target="/ppt/notesSlides/notesSlide16.xml" Id="Rf3d38b363fa242b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840fa8f3824a19" /><Relationship Type="http://schemas.openxmlformats.org/officeDocument/2006/relationships/notesSlide" Target="/ppt/notesSlides/notesSlide17.xml" Id="R6955e17fb1d84a7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52802ebab247e4" /><Relationship Type="http://schemas.openxmlformats.org/officeDocument/2006/relationships/notesSlide" Target="/ppt/notesSlides/notesSlide18.xml" Id="Rf553092e9bef46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3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61490-8EF5-49E4-9C8F-81F3FBE4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79D2D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79D2D1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79D2D1"/>
                </a:solidFill>
                <a:latin typeface="DejaVu Sans"/>
                <a:ea typeface="DejaVu Sans"/>
                <a:cs typeface="DejaVu Sans"/>
              </a:rPr>
              <a:t>NCBA LOOP CASE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55FE5-C373-4884-9B74-B91C5F02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477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Country Integration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9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Service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D8DB6-80AA-4952-AEED-6A1D2072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Integrations and Microservices Engineer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33B84-C0AF-46BA-9053-FE8A78CC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C8DCE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C8DCE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8DCE5"/>
                </a:solidFill>
                <a:latin typeface="DejaVu Sans"/>
                <a:ea typeface="DejaVu Sans"/>
                <a:cs typeface="DejaVu Sans"/>
              </a:rPr>
              <a:t>Samuel Mutua Kimani</a:t>
            </a:r>
          </a:p>
          <a:p xmlns:a="http://schemas.openxmlformats.org/drawingml/2006/main">
            <a:pPr>
              <a:defRPr sz="1875" b="0">
                <a:solidFill>
                  <a:srgbClr val="C8DCE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C8DCE5"/>
                </a:solidFill>
                <a:latin typeface="DejaVu Sans"/>
                <a:ea typeface="DejaVu Sans"/>
                <a:cs typeface="DejaVu Sans"/>
              </a:rPr>
              <a:t>9 October 2026</a:t>
            </a:r>
          </a:p>
        </p:txBody>
      </p:sp>
    </p:spTree>
    <p:extLst>
      <p:ext uri="{BB962C8B-B14F-4D97-AF65-F5344CB8AC3E}">
        <p14:creationId xmlns:p14="http://schemas.microsoft.com/office/powerpoint/2010/main" val="9669865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5ABC40-6964-4C5D-9E96-D2810A3F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1. Spring Boot application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11612-FF45-46DB-85FB-DCDAA421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Samuel Mutua Kimani • 9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C8004-17AA-4456-83C2-913DCA19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7534D-CFCC-47A5-855A-63D3AFED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Framework and dependencies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D39D2-BEF3-432F-AF7F-AA6073A4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Java 25, Spring Boot 4.1.1, Maven wrapper; Web, validation, JPA, MySQL, Actuator and Flyway.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679C2-32FB-42D6-BAE8-B949BF67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Separation of concerns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9413E-AB84-4EA8-A1E1-000448B7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Controller handles HTTP; service coordinates operations; SOAP client/transport own integration; repository accesses MySQL.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77B34-20DE-4A44-9245-FB274881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Configuration and startup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66C4C-1E73-4FA4-B5A5-CCC7AC5E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Environment variables supply credentials and endpoint. Flyway creates fresh schemas; Hibernate validates them.</a:t>
            </a:r>
          </a:p>
        </p:txBody>
      </p:sp>
    </p:spTree>
    <p:extLst>
      <p:ext uri="{BB962C8B-B14F-4D97-AF65-F5344CB8AC3E}">
        <p14:creationId xmlns:p14="http://schemas.microsoft.com/office/powerpoint/2010/main" val="790762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2ECB3-4762-4B92-8C0C-02803C31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2. SoapUI import, request and assertions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AD1CE-EAFC-41A5-8C12-DA755B20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Samuel Mutua Kimani • 9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B87A7-4987-406B-876B-F3417F45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32A42-AAD4-4B78-AD57-75427505AE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6b5ae90ee4fd6"/>
          <a:stretch xmlns:a="http://schemas.openxmlformats.org/drawingml/2006/main"/>
        </p:blipFill>
        <p:spPr>
          <a:xfrm xmlns:a="http://schemas.openxmlformats.org/drawingml/2006/main">
            <a:off x="988219" y="1562100"/>
            <a:ext cx="2024063" cy="4048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AE2EF-E882-44BC-9CDA-FE242106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562100"/>
            <a:ext cx="7743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CountryISOCode • actual Tanzania exchange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4226C-844D-4469-A2B6-70E6F04F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143125"/>
            <a:ext cx="7743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D120B-7633-4A75-98AC-E23D9259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52700"/>
            <a:ext cx="77438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&lt;web:sCountryName&gt;Tanzania&lt;/web:sCountryName&gt;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8862DA-9522-47A0-96C7-B2E94BFF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86125"/>
            <a:ext cx="7743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HTTP 200 response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2BFDC-8D02-41DC-8009-3C3A7A32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695700"/>
            <a:ext cx="7743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&lt;m:CountryISOCodeResult&gt;TZ&lt;/m:CountryISOCodeResult&gt;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3688C-CC8C-4539-AAF2-2F54F9C9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505325"/>
            <a:ext cx="77438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Passed: SOAP response • no fault • XPath result TZ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D289D-9CBB-4792-B738-E2EA973E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334000"/>
            <a:ext cx="77438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3 cases / 9 assertions: ISO Tanzania, FullCountryInfo TZ, ISO South Africa.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1F29C-F04C-42F6-AA17-FA05C2DA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Reproduce: ./scripts/test-soapui.sh</a:t>
            </a:r>
          </a:p>
        </p:txBody>
      </p:sp>
    </p:spTree>
    <p:extLst>
      <p:ext uri="{BB962C8B-B14F-4D97-AF65-F5344CB8AC3E}">
        <p14:creationId xmlns:p14="http://schemas.microsoft.com/office/powerpoint/2010/main" val="8118791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19F1F-2A44-4C75-BB27-F3AEAB2A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3. Receive JSON and normalize the name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20B9E-8A20-43D2-ABB2-CBB9BCD2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Samuel Mutua Kimani • 9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B9E29-F35A-4140-925D-6C866E30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3422A-D548-43EB-9FF6-B18FEAD3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REST 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E7DDD-AF0B-421A-B506-871DEEBF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POST /api/countries accepts {"name":"kenya"}. Bean Validation rejects blank names and malformed JSON with 400.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1F3C1-1C26-4C4E-8D04-DB3DA9BA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Required first lookup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0E246-E47F-45DB-BAE0-EC58D784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Trim and collapse whitespace, then sentence case: kenya → Kenya; south africa → South africa.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625E3-8D8B-4BFD-A407-CD32291F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HTTP response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41FD4-A4D2-4670-888F-E2B2DE6B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Successful import returns 201, the persisted country/languages and a Location header. Unknown country returns 404.</a:t>
            </a:r>
          </a:p>
        </p:txBody>
      </p:sp>
    </p:spTree>
    <p:extLst>
      <p:ext uri="{BB962C8B-B14F-4D97-AF65-F5344CB8AC3E}">
        <p14:creationId xmlns:p14="http://schemas.microsoft.com/office/powerpoint/2010/main" val="14726023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1AD8A-DC1B-476E-BACA-104A1FA4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4. Resolve ISO with provider-compatible names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A4007-1693-423B-B705-8650CF8F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Samuel Mutua Kimani • 9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90CD1-4761-4691-969A-9DDBDF6F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7C15A-F1CE-453C-97F5-E469EFC9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CountryISOCode request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E02AF-8EBA-4F5D-9305-1520F926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Send sCountryName in the SOAP envelope. Parse CountryISOCodeResult and validate the ISO code.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454E7-4974-4020-8CD9-4A71FCC1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Correctness fix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0A145-731F-410A-BA98-CA294E9F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After an unknown sentence-case result, title case includes punctuation: Guinea-Bissau and Papua-New Guinea now resolve.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062D9-2F3D-455E-84B7-4B9CD582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Canonical spelling and cache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054178-955C-4D8C-9C47-6A17553E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If needed, use the provider name catalogue with a six-hour TTL. Moldova, Republic of resolves to MD. Transport errors never trigger name-format fallback.</a:t>
            </a:r>
          </a:p>
        </p:txBody>
      </p:sp>
    </p:spTree>
    <p:extLst>
      <p:ext uri="{BB962C8B-B14F-4D97-AF65-F5344CB8AC3E}">
        <p14:creationId xmlns:p14="http://schemas.microsoft.com/office/powerpoint/2010/main" val="15931692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51565B-6122-4EC0-B2E1-3AA36664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5. Fetch and persist full country information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59ACA-53CF-4755-AA00-C1C544CB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Samuel Mutua Kimani • 9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06ADF-321D-4A95-835A-B8697AFD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2CFA3-6C86-4BCA-B349-32B30372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FullCountryInfo request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E84D7-F2DE-4F41-A6A1-DA9984D7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Use the resolved ISO code as sCountryISOCode. Read country fields and all returned languages.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69360-3DCD-4645-975F-027042B6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Defensive parsing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A0EB5-6A47-46C7-BA89-4BFB597E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Namespace-aware XML parsing, escaped request values, prohibited DOCTYPE/external entities, SOAP-fault and malformed-result checks.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6E1BF-2BBC-4010-B733-6B08C0F1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Database consistency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99732-1AF2-4690-9366-0E873535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SOAP finishes before save. A unique ISO constraint handles concurrent duplicates; the service maps the losing save to 409.</a:t>
            </a:r>
          </a:p>
        </p:txBody>
      </p:sp>
    </p:spTree>
    <p:extLst>
      <p:ext uri="{BB962C8B-B14F-4D97-AF65-F5344CB8AC3E}">
        <p14:creationId xmlns:p14="http://schemas.microsoft.com/office/powerpoint/2010/main" val="3355366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29CB4-86D9-4EF1-85E0-E8294B77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6. JPA entities and request DTOs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5E910-9E34-44D3-A558-345DB957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Samuel Mutua Kimani • 9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5A01D-3A3C-4917-8F5D-5CA6AF7A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0F684-8860-4D1C-BE1E-44F1C555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CountryInfo and Language are JPA entities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6956E-DB59-4BE5-9EDC-256F81DF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CountryInfo persists country identity/details. Language persists ISO/name and its country relationship.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A118A-EFAD-4140-9469-371654B8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DTOs describe incoming requests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5CAE0-FEA7-489C-9E03-419E47FA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CreateCountryRequest and UpdateCountryRequest validate the REST input. They are distinct from database entities.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A02C2-A907-4BFF-A5A6-6B072426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Persistence behavior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47142-955D-4668-8004-CCC64223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Generated IDs, unique country ISO, cascading save/delete and orphan removal. Tests verify language replacement and eager read paths.</a:t>
            </a:r>
          </a:p>
        </p:txBody>
      </p:sp>
    </p:spTree>
    <p:extLst>
      <p:ext uri="{BB962C8B-B14F-4D97-AF65-F5344CB8AC3E}">
        <p14:creationId xmlns:p14="http://schemas.microsoft.com/office/powerpoint/2010/main" val="17410627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8C302-DA9C-4BEB-B46C-EDA3688B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7. CRUD endpoints and bounded reads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50449-CE3A-4DE2-B3F2-BF704E95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Samuel Mutua Kimani • 9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704B8-7363-4CC8-89DE-178A9BE6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805D2-DFEE-4FBA-B1E6-7BFE4E21DF35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6572250"/>
                <a:gridCol w="2533650"/>
              </a:tblGrid>
              <a:tr h="5905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1233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Route / behavior</a:t>
                      </a:r>
                    </a:p>
                  </a:txBody>
                  <a:tcPr marL="91440" marR="91440" marT="45720" marB="45720">
                    <a:solidFill>
                      <a:srgbClr val="1233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Success</a:t>
                      </a:r>
                    </a:p>
                  </a:txBody>
                  <a:tcPr marL="91440" marR="91440" marT="45720" marB="45720">
                    <a:solidFill>
                      <a:srgbClr val="12334B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POST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/api/countries; import and save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201 + Location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GET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/api/countries?page=0&amp;size=100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200 JSON array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GET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/api/countries/{id}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200 country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PUT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/api/countries/{id}; replace details/languages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200 updated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DELETE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/api/countries/{id}; cascade languages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204 empty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C32BD-54A5-49C2-B662-FAA2807A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Zero-based pages; size 1–100. Read until an empty page for all countries. Invalid bounds return 400. ISO and country ID stay immutable on update.</a:t>
            </a:r>
          </a:p>
        </p:txBody>
      </p:sp>
    </p:spTree>
    <p:extLst>
      <p:ext uri="{BB962C8B-B14F-4D97-AF65-F5344CB8AC3E}">
        <p14:creationId xmlns:p14="http://schemas.microsoft.com/office/powerpoint/2010/main" val="1088849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73AE4-03B3-4173-A6D7-3CDFA88C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8. Kubernetes deployment scripts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B7FC0-88F3-43DB-B584-6C6FADC7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Samuel Mutua Kimani • 9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9749A-D420-492E-83C8-6051A71C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B8A04-7AE4-4A0C-ACF3-FAC2301A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Source-built image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11738-4077-49A2-A6AE-3379789B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Multi-stage Java 25 build; non-root runtime. A tag derived from Docker build inputs prevents stale local images.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E1F6B-5A70-424F-B230-A187DF70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Deploy and scale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D9BE4-FF3E-49F2-A9B4-36B276F0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./scripts/deploy.sh creates namespace/Secret, waits for MySQL, runs migrations with one app replica, then scales to two.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66AE1-3992-42D4-ACBC-6E570CA0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Cluster portability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0CC7D-38F7-4727-B7CD-08214147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Docker Desktop uses the local image; kind/minikube import it. Remote contexts require APP_IMAGE with registry path and PUSH_IMAGE=true.</a:t>
            </a:r>
          </a:p>
        </p:txBody>
      </p:sp>
    </p:spTree>
    <p:extLst>
      <p:ext uri="{BB962C8B-B14F-4D97-AF65-F5344CB8AC3E}">
        <p14:creationId xmlns:p14="http://schemas.microsoft.com/office/powerpoint/2010/main" val="13055872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E123C-63A3-4875-9719-3ABE3C22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9. Run, test and deploy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9817B-370A-48EA-8CA0-91ABF62D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Samuel Mutua Kimani • 9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41846-145C-43C5-9D96-5531CE51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010DC-392F-41C6-8173-322A75CC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From the project root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18976-CD0A-403B-98A7-DA5F4B69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08204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1  cp .env.example .env  — replace both password placeholders</a:t>
            </a:r>
          </a:p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2  ./mvnw clean verify  — 55 tests; no Docker or external DB</a:t>
            </a:r>
          </a:p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3  docker compose up -d --build  — API localhost:8081</a:t>
            </a:r>
          </a:p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4  ./scripts/deploy.sh  — Kubernetes, two replicas</a:t>
            </a:r>
          </a:p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5  Port-forward Service 8082:8080; run ./scripts/verify.sh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81B86-2C40-4629-B4A9-4553C9D2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All 64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3F0DA-9D0D-42F7-AEB8-B4FDDDC0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./mvnw -Pmysql-it clean verify  — Docker required for temporary MySQL.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DDA67-6A7E-4DA2-8A8E-0AF25870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Existing pre-Flyway database: backup first, explicit baseline once, then return baseline flag to false.</a:t>
            </a:r>
          </a:p>
        </p:txBody>
      </p:sp>
    </p:spTree>
    <p:extLst>
      <p:ext uri="{BB962C8B-B14F-4D97-AF65-F5344CB8AC3E}">
        <p14:creationId xmlns:p14="http://schemas.microsoft.com/office/powerpoint/2010/main" val="16467449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E7565-E700-42C0-869A-BC0D6483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10. Troubleshoot Kubernetes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64F6F-56DB-4F01-AD92-0032E604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Samuel Mutua Kimani • 9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186D9-9180-40AA-BB14-16963D5D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0518D-4CD3-4CBD-850C-1811E2DE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Image and startup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08544-EFF5-4F7D-91AA-BA56FED9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Check pod events, image tag and rollout; load the image for your cluster. Inspect logs for schema validation and datasource failures.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52142C-CC49-4993-86F3-1D3B75CB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Readiness and upstream failures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583BB-7BDC-4C60-9766-C6AD1E17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Readiness includes MySQL; liveness does not. Check PVC, database access, SOAP timeouts, circuit state and outbound network access.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115E4-8498-496E-8993-230E7F30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Resources and diagnostics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1780CD-6405-4A25-8A90-1704A758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Inspect limits/probe timeouts, restart counts and Service endpoints. Use request IDs, business outcomes, Prometheus targets and Grafana.</a:t>
            </a:r>
          </a:p>
        </p:txBody>
      </p:sp>
    </p:spTree>
    <p:extLst>
      <p:ext uri="{BB962C8B-B14F-4D97-AF65-F5344CB8AC3E}">
        <p14:creationId xmlns:p14="http://schemas.microsoft.com/office/powerpoint/2010/main" val="1112715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FB80E-7C93-4CBD-A1F4-42915D104F9E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353550" y="2809875"/>
            <a:ext cx="371475" cy="14001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7F82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669AE-88C1-4FDA-899D-B3953ABF5B54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5667375" y="2809875"/>
            <a:ext cx="3686175" cy="14001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7F82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0B85C-0358-487E-BBC3-E67D81E4290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305550" y="2357438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2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F73B1-A8D9-4898-88DC-54506EE2F27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76550" y="235743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2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877AA-64B6-4277-B4ED-9FE45C9C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System design and integration trade-offs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D2B9C-2ACB-4E38-8DB1-D3E2418C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Samuel Mutua Kimani • 9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DDE47-2746-457E-A8C1-30F22AA6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2192E-0DA3-4033-BE97-2290D466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2190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F3"/>
          </a:solidFill>
          <a:ln xmlns:a="http://schemas.openxmlformats.org/drawingml/2006/main" w="19050">
            <a:solidFill>
              <a:srgbClr val="007F8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REST client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B97CE-7F4A-44B3-A9C2-3A95D8FB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05000"/>
            <a:ext cx="2476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F3"/>
          </a:solidFill>
          <a:ln xmlns:a="http://schemas.openxmlformats.org/drawingml/2006/main" w="19050">
            <a:solidFill>
              <a:srgbClr val="007F8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Kubernetes 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9B21E-EF7B-46F7-951E-A211DFF0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05000"/>
            <a:ext cx="4000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F3"/>
          </a:solidFill>
          <a:ln xmlns:a="http://schemas.openxmlformats.org/drawingml/2006/main" w="19050">
            <a:solidFill>
              <a:srgbClr val="007F8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Two app replicas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67463-9FA9-4A05-AACD-A7CC44FA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100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F3"/>
          </a:solidFill>
          <a:ln xmlns:a="http://schemas.openxmlformats.org/drawingml/2006/main" w="19050">
            <a:solidFill>
              <a:srgbClr val="007F8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Shared MySQL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61C62-9CD5-41DA-94EE-D2D1A93A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3257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F3"/>
          </a:solidFill>
          <a:ln xmlns:a="http://schemas.openxmlformats.org/drawingml/2006/main" w="19050">
            <a:solidFill>
              <a:srgbClr val="007F82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SOAP provider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FFF6CC-8768-4CB7-AE32-7E83F547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721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Stored CRUD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EBF04A-FF63-44F6-9854-A66E3A6C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7210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New imports 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D292E0-DE5F-498F-B786-753E1A36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Synchronous import gives an immediate result. Bulk queuing is a proposed extension requiring durable jobs, idempotency and dead-letter handling.</a:t>
            </a:r>
          </a:p>
        </p:txBody>
      </p:sp>
    </p:spTree>
    <p:extLst>
      <p:ext uri="{BB962C8B-B14F-4D97-AF65-F5344CB8AC3E}">
        <p14:creationId xmlns:p14="http://schemas.microsoft.com/office/powerpoint/2010/main" val="15922444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8C2AE-9F7E-4DB4-AE42-F8B066B8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Scaling: measured local read workload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B80C0-2746-48C2-975C-BB1B80E9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Samuel Mutua Kimani • 9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B9A7E-E316-44DF-99ED-835D819B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1BE7F-B8CF-4427-9C53-418A63DDDBEA}"/>
              </a:ext>
            </a:extLst>
          </p:cNvPr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71875"/>
                <a:gridCol w="7248525"/>
              </a:tblGrid>
              <a:tr h="6667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Measurement</a:t>
                      </a:r>
                    </a:p>
                  </a:txBody>
                  <a:tcPr marL="91440" marR="91440" marT="45720" marB="45720">
                    <a:solidFill>
                      <a:srgbClr val="1233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Observed local result</a:t>
                      </a:r>
                    </a:p>
                  </a:txBody>
                  <a:tcPr marL="91440" marR="91440" marT="45720" marB="45720">
                    <a:solidFill>
                      <a:srgbClr val="12334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Requests / concurrency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200 reads / 8 workers; all HTTP 200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Service distribution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101 requests to one pod; 99 to the other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Rate / latency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9.471 requests/s; p50 450 ms; p95 3,106 ms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 scope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21.118 s sample on one Docker Desktop node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EE8A4-EB85-4723-A66C-A390F289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Stateless replicas and shared MySQL support horizontal scaling. SQL pagination bounds reads; provider-name caching avoids repeated catalogue lookups.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9ABFC-952E-4F24-8FFC-CF29E437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HPA 2–4 replicas is configured, but this cluster lacks the metrics API. Autoscaling, sustained capacity and multi-node failover remain unverified.</a:t>
            </a:r>
          </a:p>
        </p:txBody>
      </p:sp>
    </p:spTree>
    <p:extLst>
      <p:ext uri="{BB962C8B-B14F-4D97-AF65-F5344CB8AC3E}">
        <p14:creationId xmlns:p14="http://schemas.microsoft.com/office/powerpoint/2010/main" val="10869288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3F56B-F5CA-4509-B1F0-25A7B48D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Resilience and HTTP error handling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25D4F-B96F-4A10-AC43-6FA72B73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Samuel Mutua Kimani • 9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41888-6E96-4F2D-BB74-88C6C505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F6A00-0AC7-4325-ADD9-216F6AF8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Bounded external calls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8691E-4E2D-424A-8F74-9C50D710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5 s connection timeout; each request up to 8 s. At most two attempts, 300 ms apart. Overall SOAP sequence budget: 20 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82ECD-8061-4FBB-AEB9-1717F9DE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Circuit breaker and degraded operation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4BD12-677C-4652-A8E2-3D2D5410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10-call window; minimum five, 50% failure threshold; open 30 s, two half-open calls. Stored CRUD remains available during SOAP outages.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B8F0D-5BAD-4A2A-B8FA-BB960CDA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Explicit HTTP outcomes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CDFE0-DC4E-46C1-B227-B4EEE791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400 invalid input, 404 missing country, 405 method, 406 Accept, 409 duplicate, 415 media type, 502 invalid upstream, 503 unavailable, 504 timeout.</a:t>
            </a:r>
          </a:p>
        </p:txBody>
      </p:sp>
    </p:spTree>
    <p:extLst>
      <p:ext uri="{BB962C8B-B14F-4D97-AF65-F5344CB8AC3E}">
        <p14:creationId xmlns:p14="http://schemas.microsoft.com/office/powerpoint/2010/main" val="5701505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EB2FB-4938-4D20-9591-51A9902E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Logs, metrics and deployed monitoring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012D5-76B9-4E68-B70F-0A4EF50A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Samuel Mutua Kimani • 9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5EA89-D21D-49EC-B33E-D8737A61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E4976-79F9-4160-B63E-4868C469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Structured troubleshooting logs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3BF36-FED2-4174-80B9-1063C11E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Request ID, method/path/status/duration; import/ISO/save outcomes, duplicate detection and failure status. Update/delete log flushed results. Credentials and bodies excluded.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AB246-D53B-4C05-B529-8052E687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Business and HTTP metrics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178E7-6778-41C6-9456-CF2B22A8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country.operations outcomes, country.import.duration, HTTP request rate/latency and pod identity. Actuator exposes health and Prometheus metrics.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917B7-44EC-4946-90F9-2E679C17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Verified local monitoring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3ED04-3BEF-4DB5-88E5-5C4542B6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Prometheus scraped two healthy targets and loaded availability/5xx rules. Grafana provisioned the country-service dashboard. Storage is ephemeral; local Viewer access only.</a:t>
            </a:r>
          </a:p>
        </p:txBody>
      </p:sp>
    </p:spTree>
    <p:extLst>
      <p:ext uri="{BB962C8B-B14F-4D97-AF65-F5344CB8AC3E}">
        <p14:creationId xmlns:p14="http://schemas.microsoft.com/office/powerpoint/2010/main" val="3260051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3E1EC-9B12-42C1-BA63-F7B36030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64 automated tests passed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94E20-F122-422D-94D5-DDE48878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Samuel Mutua Kimani • 9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A9F80-B2CB-484B-A334-072CA0E6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C30D4-7EAE-48BA-9723-DB320099D2AD}"/>
              </a:ext>
            </a:extLst>
          </p:cNvPr>
          <p:cNvGraphicFramePr/>
          <p:nvPr/>
        </p:nvGraphicFramePr>
        <p:xfrm>
          <a:off xmlns:a="http://schemas.openxmlformats.org/drawingml/2006/main" x="685800" y="153352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428750"/>
                <a:gridCol w="6534150"/>
              </a:tblGrid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Suite</a:t>
                      </a:r>
                    </a:p>
                  </a:txBody>
                  <a:tcPr marL="91440" marR="91440" marT="45720" marB="45720">
                    <a:solidFill>
                      <a:srgbClr val="1233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Tests</a:t>
                      </a:r>
                    </a:p>
                  </a:txBody>
                  <a:tcPr marL="91440" marR="91440" marT="45720" marB="45720">
                    <a:solidFill>
                      <a:srgbClr val="1233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12334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Service / failure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Names, duplicate races, errors and CRUD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SOAP client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Canonical cache, namespaces, faults, XML safety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Controller / transport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POST/PUT, validation, timeout/budget/circuit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Context / H2 persistence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Startup and JPA behavior</a:t>
                      </a:r>
                    </a:p>
                  </a:txBody>
                  <a:tcPr marL="91440" marR="91440" marT="45720" marB="45720"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Actual MySQL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34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Persistence, concurrency and Flyway migration</a:t>
                      </a:r>
                    </a:p>
                  </a:txBody>
                  <a:tcPr marL="91440" marR="91440" marT="45720" marB="45720">
                    <a:solidFill>
                      <a:srgbClr val="EAF2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B0C4F-11D0-4FD1-A943-9F197696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Default: ./mvnw clean verify  → 55 tests, no Docker required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C756A-C0AB-4386-BF52-931D9D43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Full: ./mvnw -Pmysql-it clean verify  → 64 tests, Docker required</a:t>
            </a:r>
          </a:p>
        </p:txBody>
      </p:sp>
    </p:spTree>
    <p:extLst>
      <p:ext uri="{BB962C8B-B14F-4D97-AF65-F5344CB8AC3E}">
        <p14:creationId xmlns:p14="http://schemas.microsoft.com/office/powerpoint/2010/main" val="6579976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DDCC24-1032-41C0-86AF-5AB64222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Final deployment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20DFC-962B-40E4-9A36-3ABD2B3A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Samuel Mutua Kimani • 9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A5162-4EEC-4E7A-9D70-9E16BE93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FEFA8-66AE-4D0A-BDA9-8923DB59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Data preserved and schema validated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84B32-CED9-4E34-B777-83DB5AA7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Existing Kenya, Tanzania and South Africa survived Flyway adoption. Baseline was explicitly enabled once and then disabled. A private dump restored into disposable MySQL with all six countries and languages.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DC691-A66D-471E-9730-CD162FEA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Correctness and shared persistence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9BD55-E0AD-453C-A7A5-E91CB94E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Guinea-Bissau → GW, Papua-New Guinea → PG, Moldova → MD: each created with 201 and read through the other replica. Duplicate 409; unknown 404.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A6895-B056-495E-9EFC-E6AE663C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Ready application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D7719-E747-4FED-9FE7-5C20FB35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Two ready backends; health/readiness/liveness UP; zero app/MySQL restarts. Pagination, business metrics and internal Service distribution verified.</a:t>
            </a:r>
          </a:p>
        </p:txBody>
      </p:sp>
    </p:spTree>
    <p:extLst>
      <p:ext uri="{BB962C8B-B14F-4D97-AF65-F5344CB8AC3E}">
        <p14:creationId xmlns:p14="http://schemas.microsoft.com/office/powerpoint/2010/main" val="120093744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7950C-C892-47C8-B9F4-8B40A7E8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Submission and production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90629-3E04-455B-805F-F3C2CF6D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Samuel Mutua Kimani • 9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34829-A835-46D6-9E30-180A6376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A80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8FECE-32AB-4FA1-99D5-8843BFF8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Assessment deliverables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78786-3689-4E7D-BCFB-B8CC8E1C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Source, tests and CI; SoapUI project/results; Docker and Kubernetes scripts; deployment/troubleshooting guides; requirement mapping; presentation and PDF.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574C2-6F1B-4A56-8CF0-F446C54D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Proposed production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5C225-B06D-4301-A8A6-4EDA5252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Multiple nodes/zones and a managed HA database; authenticated TLS ingress; managed secrets; durable monitoring and alert destinations; tested backups and recovery.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5F20A-1B32-454C-AF7C-5C6F446B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Remaining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22953-7399-4BC4-A99E-6695437C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2334B"/>
                </a:solidFill>
                <a:latin typeface="DejaVu Sans"/>
                <a:ea typeface="DejaVu Sans"/>
                <a:cs typeface="DejaVu Sans"/>
              </a:rPr>
              <a:t>Local results do not prove HA or peak capacity. HPA behavior, sustained mixed load/fault tests, production recovery exercises and upstream HTTPS need the corresponding environment.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BDE5B-53DF-4B1F-B536-878AB0A8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F82"/>
                </a:solidFill>
                <a:latin typeface="DejaVu Sans"/>
                <a:ea typeface="DejaVu Sans"/>
                <a:cs typeface="DejaVu Sans"/>
              </a:rPr>
              <a:t>github.com/kimtour/country-integration-service</a:t>
            </a:r>
          </a:p>
        </p:txBody>
      </p:sp>
    </p:spTree>
    <p:extLst>
      <p:ext uri="{BB962C8B-B14F-4D97-AF65-F5344CB8AC3E}">
        <p14:creationId xmlns:p14="http://schemas.microsoft.com/office/powerpoint/2010/main" val="14046892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2026-10-09T10:30:20.8610000Z</dcterms:created>
  <dcterms:modified xsi:type="dcterms:W3CDTF">2026-10-09T10:30:20.8620000Z</dcterms:modified>
</coreProperties>
</file>